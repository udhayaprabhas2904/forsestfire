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League Spartan" panose="020B0604020202020204" charset="0"/>
      <p:regular r:id="rId17"/>
    </p:embeddedFont>
    <p:embeddedFont>
      <p:font typeface="Agbalumo" panose="020B0604020202020204" charset="0"/>
      <p:regular r:id="rId18"/>
    </p:embeddedFont>
    <p:embeddedFont>
      <p:font typeface="Sylfaen" panose="010A0502050306030303" pitchFamily="18" charset="0"/>
      <p:regular r:id="rId19"/>
    </p:embeddedFont>
    <p:embeddedFont>
      <p:font typeface="Calibri" panose="020F0502020204030204"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740" y="1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6.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4.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20.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8.svg"/><Relationship Id="rId4" Type="http://schemas.openxmlformats.org/officeDocument/2006/relationships/image" Target="../media/image9.png"/><Relationship Id="rId9" Type="http://schemas.openxmlformats.org/officeDocument/2006/relationships/image" Target="../media/image22.svg"/></Relationships>
</file>

<file path=ppt/slides/_rels/slide6.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8.svg"/><Relationship Id="rId7" Type="http://schemas.openxmlformats.org/officeDocument/2006/relationships/image" Target="../media/image16.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4.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svg"/><Relationship Id="rId7" Type="http://schemas.openxmlformats.org/officeDocument/2006/relationships/image" Target="../media/image22.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5.svg"/><Relationship Id="rId4" Type="http://schemas.openxmlformats.org/officeDocument/2006/relationships/image" Target="../media/image13.png"/><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https://www.kaggle.com/datasets" TargetMode="External"/><Relationship Id="rId5" Type="http://schemas.openxmlformats.org/officeDocument/2006/relationships/image" Target="../media/image34.sv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4972088" y="5143500"/>
            <a:ext cx="7605599" cy="3897869"/>
          </a:xfrm>
          <a:custGeom>
            <a:avLst/>
            <a:gdLst/>
            <a:ahLst/>
            <a:cxnLst/>
            <a:rect l="l" t="t" r="r" b="b"/>
            <a:pathLst>
              <a:path w="7605599" h="3897869">
                <a:moveTo>
                  <a:pt x="0" y="0"/>
                </a:moveTo>
                <a:lnTo>
                  <a:pt x="7605599" y="0"/>
                </a:lnTo>
                <a:lnTo>
                  <a:pt x="7605599" y="3897869"/>
                </a:lnTo>
                <a:lnTo>
                  <a:pt x="0" y="3897869"/>
                </a:lnTo>
                <a:lnTo>
                  <a:pt x="0" y="0"/>
                </a:lnTo>
                <a:close/>
              </a:path>
            </a:pathLst>
          </a:custGeom>
          <a:blipFill>
            <a:blip r:embed="rId2">
              <a:alphaModFix amt="70000"/>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a:off x="11912692" y="3593077"/>
            <a:ext cx="6375308" cy="6375308"/>
          </a:xfrm>
          <a:custGeom>
            <a:avLst/>
            <a:gdLst/>
            <a:ahLst/>
            <a:cxnLst/>
            <a:rect l="l" t="t" r="r" b="b"/>
            <a:pathLst>
              <a:path w="6375308" h="6375308">
                <a:moveTo>
                  <a:pt x="6375308" y="0"/>
                </a:moveTo>
                <a:lnTo>
                  <a:pt x="0" y="0"/>
                </a:lnTo>
                <a:lnTo>
                  <a:pt x="0" y="6375308"/>
                </a:lnTo>
                <a:lnTo>
                  <a:pt x="6375308" y="6375308"/>
                </a:lnTo>
                <a:lnTo>
                  <a:pt x="6375308" y="0"/>
                </a:lnTo>
                <a:close/>
              </a:path>
            </a:pathLst>
          </a:custGeom>
          <a:blipFill>
            <a:blip r:embed="rId4">
              <a:alphaModFix amt="73000"/>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0" y="4766557"/>
            <a:ext cx="5520443" cy="5520443"/>
          </a:xfrm>
          <a:custGeom>
            <a:avLst/>
            <a:gdLst/>
            <a:ahLst/>
            <a:cxnLst/>
            <a:rect l="l" t="t" r="r" b="b"/>
            <a:pathLst>
              <a:path w="5520443" h="5520443">
                <a:moveTo>
                  <a:pt x="0" y="0"/>
                </a:moveTo>
                <a:lnTo>
                  <a:pt x="5520443" y="0"/>
                </a:lnTo>
                <a:lnTo>
                  <a:pt x="5520443" y="5520443"/>
                </a:lnTo>
                <a:lnTo>
                  <a:pt x="0" y="5520443"/>
                </a:lnTo>
                <a:lnTo>
                  <a:pt x="0" y="0"/>
                </a:lnTo>
                <a:close/>
              </a:path>
            </a:pathLst>
          </a:custGeom>
          <a:blipFill>
            <a:blip r:embed="rId4">
              <a:alphaModFix amt="73000"/>
              <a:extLst>
                <a:ext uri="{96DAC541-7B7A-43D3-8B79-37D633B846F1}">
                  <asvg:svgBlip xmlns:asvg="http://schemas.microsoft.com/office/drawing/2016/SVG/main" xmlns="" r:embed="rId5"/>
                </a:ext>
              </a:extLst>
            </a:blip>
            <a:stretch>
              <a:fillRect/>
            </a:stretch>
          </a:blipFill>
        </p:spPr>
      </p:sp>
      <p:grpSp>
        <p:nvGrpSpPr>
          <p:cNvPr id="5" name="Group 5"/>
          <p:cNvGrpSpPr/>
          <p:nvPr/>
        </p:nvGrpSpPr>
        <p:grpSpPr>
          <a:xfrm>
            <a:off x="-856105" y="8799096"/>
            <a:ext cx="20000210" cy="3727249"/>
            <a:chOff x="0" y="0"/>
            <a:chExt cx="5267545" cy="981662"/>
          </a:xfrm>
        </p:grpSpPr>
        <p:sp>
          <p:nvSpPr>
            <p:cNvPr id="6" name="Freeform 6"/>
            <p:cNvSpPr/>
            <p:nvPr/>
          </p:nvSpPr>
          <p:spPr>
            <a:xfrm>
              <a:off x="0" y="0"/>
              <a:ext cx="5267545" cy="981662"/>
            </a:xfrm>
            <a:custGeom>
              <a:avLst/>
              <a:gdLst/>
              <a:ahLst/>
              <a:cxnLst/>
              <a:rect l="l" t="t" r="r" b="b"/>
              <a:pathLst>
                <a:path w="5267545" h="981662">
                  <a:moveTo>
                    <a:pt x="2633773" y="0"/>
                  </a:moveTo>
                  <a:cubicBezTo>
                    <a:pt x="1179180" y="0"/>
                    <a:pt x="0" y="219753"/>
                    <a:pt x="0" y="490831"/>
                  </a:cubicBezTo>
                  <a:cubicBezTo>
                    <a:pt x="0" y="761910"/>
                    <a:pt x="1179180" y="981662"/>
                    <a:pt x="2633773" y="981662"/>
                  </a:cubicBezTo>
                  <a:cubicBezTo>
                    <a:pt x="4088365" y="981662"/>
                    <a:pt x="5267545" y="761910"/>
                    <a:pt x="5267545" y="490831"/>
                  </a:cubicBezTo>
                  <a:cubicBezTo>
                    <a:pt x="5267545" y="219753"/>
                    <a:pt x="4088365" y="0"/>
                    <a:pt x="2633773" y="0"/>
                  </a:cubicBezTo>
                  <a:close/>
                </a:path>
              </a:pathLst>
            </a:custGeom>
            <a:solidFill>
              <a:srgbClr val="FBAC9F"/>
            </a:solidFill>
          </p:spPr>
        </p:sp>
        <p:sp>
          <p:nvSpPr>
            <p:cNvPr id="7" name="TextBox 7"/>
            <p:cNvSpPr txBox="1"/>
            <p:nvPr/>
          </p:nvSpPr>
          <p:spPr>
            <a:xfrm>
              <a:off x="493832" y="34881"/>
              <a:ext cx="4279880" cy="85475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8079174" y="6780731"/>
            <a:ext cx="2129652" cy="2730323"/>
          </a:xfrm>
          <a:custGeom>
            <a:avLst/>
            <a:gdLst/>
            <a:ahLst/>
            <a:cxnLst/>
            <a:rect l="l" t="t" r="r" b="b"/>
            <a:pathLst>
              <a:path w="2129652" h="2730323">
                <a:moveTo>
                  <a:pt x="0" y="0"/>
                </a:moveTo>
                <a:lnTo>
                  <a:pt x="2129652" y="0"/>
                </a:lnTo>
                <a:lnTo>
                  <a:pt x="2129652" y="2730323"/>
                </a:lnTo>
                <a:lnTo>
                  <a:pt x="0" y="273032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9" name="Freeform 9"/>
          <p:cNvSpPr/>
          <p:nvPr/>
        </p:nvSpPr>
        <p:spPr>
          <a:xfrm>
            <a:off x="6667182" y="8282589"/>
            <a:ext cx="1183698" cy="1517562"/>
          </a:xfrm>
          <a:custGeom>
            <a:avLst/>
            <a:gdLst/>
            <a:ahLst/>
            <a:cxnLst/>
            <a:rect l="l" t="t" r="r" b="b"/>
            <a:pathLst>
              <a:path w="1183698" h="1517562">
                <a:moveTo>
                  <a:pt x="0" y="0"/>
                </a:moveTo>
                <a:lnTo>
                  <a:pt x="1183698" y="0"/>
                </a:lnTo>
                <a:lnTo>
                  <a:pt x="1183698" y="1517561"/>
                </a:lnTo>
                <a:lnTo>
                  <a:pt x="0" y="151756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0" name="Freeform 10"/>
          <p:cNvSpPr/>
          <p:nvPr/>
        </p:nvSpPr>
        <p:spPr>
          <a:xfrm>
            <a:off x="10437426" y="8649308"/>
            <a:ext cx="950028" cy="1217984"/>
          </a:xfrm>
          <a:custGeom>
            <a:avLst/>
            <a:gdLst/>
            <a:ahLst/>
            <a:cxnLst/>
            <a:rect l="l" t="t" r="r" b="b"/>
            <a:pathLst>
              <a:path w="950028" h="1217984">
                <a:moveTo>
                  <a:pt x="0" y="0"/>
                </a:moveTo>
                <a:lnTo>
                  <a:pt x="950028" y="0"/>
                </a:lnTo>
                <a:lnTo>
                  <a:pt x="950028" y="1217984"/>
                </a:lnTo>
                <a:lnTo>
                  <a:pt x="0" y="1217984"/>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1" name="TextBox 11"/>
          <p:cNvSpPr txBox="1"/>
          <p:nvPr/>
        </p:nvSpPr>
        <p:spPr>
          <a:xfrm>
            <a:off x="1923784" y="2011174"/>
            <a:ext cx="14440432" cy="972097"/>
          </a:xfrm>
          <a:prstGeom prst="rect">
            <a:avLst/>
          </a:prstGeom>
        </p:spPr>
        <p:txBody>
          <a:bodyPr lIns="0" tIns="0" rIns="0" bIns="0" rtlCol="0" anchor="t">
            <a:spAutoFit/>
          </a:bodyPr>
          <a:lstStyle/>
          <a:p>
            <a:pPr algn="ctr">
              <a:lnSpc>
                <a:spcPts val="7443"/>
              </a:lnSpc>
            </a:pPr>
            <a:r>
              <a:rPr lang="en-US" sz="6956" dirty="0">
                <a:solidFill>
                  <a:srgbClr val="861E1E"/>
                </a:solidFill>
                <a:latin typeface="League Spartan"/>
                <a:ea typeface="League Spartan"/>
                <a:cs typeface="League Spartan"/>
                <a:sym typeface="League Spartan"/>
              </a:rPr>
              <a:t>FOREST FIRE RISK PREDICTION</a:t>
            </a:r>
          </a:p>
        </p:txBody>
      </p:sp>
      <p:sp>
        <p:nvSpPr>
          <p:cNvPr id="12" name="TextBox 12"/>
          <p:cNvSpPr txBox="1"/>
          <p:nvPr/>
        </p:nvSpPr>
        <p:spPr>
          <a:xfrm>
            <a:off x="5190348" y="3040420"/>
            <a:ext cx="7907304" cy="605401"/>
          </a:xfrm>
          <a:prstGeom prst="rect">
            <a:avLst/>
          </a:prstGeom>
        </p:spPr>
        <p:txBody>
          <a:bodyPr lIns="0" tIns="0" rIns="0" bIns="0" rtlCol="0" anchor="t">
            <a:spAutoFit/>
          </a:bodyPr>
          <a:lstStyle/>
          <a:p>
            <a:pPr algn="ctr">
              <a:lnSpc>
                <a:spcPts val="4666"/>
              </a:lnSpc>
            </a:pPr>
            <a:r>
              <a:rPr lang="en-US" sz="4361">
                <a:solidFill>
                  <a:srgbClr val="000000"/>
                </a:solidFill>
                <a:latin typeface="Agbalumo"/>
                <a:ea typeface="Agbalumo"/>
                <a:cs typeface="Agbalumo"/>
                <a:sym typeface="Agbalumo"/>
              </a:rPr>
              <a:t>Presented By : Udhayaprabha 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727509"/>
            <a:ext cx="20082410" cy="11282663"/>
          </a:xfrm>
          <a:custGeom>
            <a:avLst/>
            <a:gdLst/>
            <a:ahLst/>
            <a:cxnLst/>
            <a:rect l="l" t="t" r="r" b="b"/>
            <a:pathLst>
              <a:path w="20082410" h="11282663">
                <a:moveTo>
                  <a:pt x="0" y="0"/>
                </a:moveTo>
                <a:lnTo>
                  <a:pt x="20082410" y="0"/>
                </a:lnTo>
                <a:lnTo>
                  <a:pt x="20082410" y="11282663"/>
                </a:lnTo>
                <a:lnTo>
                  <a:pt x="0" y="1128266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1510285" y="1604995"/>
            <a:ext cx="5532935" cy="7077010"/>
          </a:xfrm>
          <a:custGeom>
            <a:avLst/>
            <a:gdLst/>
            <a:ahLst/>
            <a:cxnLst/>
            <a:rect l="l" t="t" r="r" b="b"/>
            <a:pathLst>
              <a:path w="5532935" h="7077010">
                <a:moveTo>
                  <a:pt x="0" y="0"/>
                </a:moveTo>
                <a:lnTo>
                  <a:pt x="5532935" y="0"/>
                </a:lnTo>
                <a:lnTo>
                  <a:pt x="5532935" y="7077010"/>
                </a:lnTo>
                <a:lnTo>
                  <a:pt x="0" y="707701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a:off x="-293799" y="9048305"/>
            <a:ext cx="20000210" cy="3727249"/>
            <a:chOff x="0" y="0"/>
            <a:chExt cx="5267545" cy="981662"/>
          </a:xfrm>
        </p:grpSpPr>
        <p:sp>
          <p:nvSpPr>
            <p:cNvPr id="5" name="Freeform 5"/>
            <p:cNvSpPr/>
            <p:nvPr/>
          </p:nvSpPr>
          <p:spPr>
            <a:xfrm>
              <a:off x="0" y="0"/>
              <a:ext cx="5267545" cy="981662"/>
            </a:xfrm>
            <a:custGeom>
              <a:avLst/>
              <a:gdLst/>
              <a:ahLst/>
              <a:cxnLst/>
              <a:rect l="l" t="t" r="r" b="b"/>
              <a:pathLst>
                <a:path w="5267545" h="981662">
                  <a:moveTo>
                    <a:pt x="2633773" y="0"/>
                  </a:moveTo>
                  <a:cubicBezTo>
                    <a:pt x="1179180" y="0"/>
                    <a:pt x="0" y="219753"/>
                    <a:pt x="0" y="490831"/>
                  </a:cubicBezTo>
                  <a:cubicBezTo>
                    <a:pt x="0" y="761910"/>
                    <a:pt x="1179180" y="981662"/>
                    <a:pt x="2633773" y="981662"/>
                  </a:cubicBezTo>
                  <a:cubicBezTo>
                    <a:pt x="4088365" y="981662"/>
                    <a:pt x="5267545" y="761910"/>
                    <a:pt x="5267545" y="490831"/>
                  </a:cubicBezTo>
                  <a:cubicBezTo>
                    <a:pt x="5267545" y="219753"/>
                    <a:pt x="4088365" y="0"/>
                    <a:pt x="2633773" y="0"/>
                  </a:cubicBezTo>
                  <a:close/>
                </a:path>
              </a:pathLst>
            </a:custGeom>
            <a:solidFill>
              <a:srgbClr val="FBAC9F"/>
            </a:solidFill>
          </p:spPr>
        </p:sp>
        <p:sp>
          <p:nvSpPr>
            <p:cNvPr id="6" name="TextBox 6"/>
            <p:cNvSpPr txBox="1"/>
            <p:nvPr/>
          </p:nvSpPr>
          <p:spPr>
            <a:xfrm>
              <a:off x="493832" y="34881"/>
              <a:ext cx="4279880" cy="854751"/>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flipH="1">
            <a:off x="10101930" y="3678061"/>
            <a:ext cx="8103111" cy="7233868"/>
          </a:xfrm>
          <a:custGeom>
            <a:avLst/>
            <a:gdLst/>
            <a:ahLst/>
            <a:cxnLst/>
            <a:rect l="l" t="t" r="r" b="b"/>
            <a:pathLst>
              <a:path w="8103111" h="7233868">
                <a:moveTo>
                  <a:pt x="8103111" y="0"/>
                </a:moveTo>
                <a:lnTo>
                  <a:pt x="0" y="0"/>
                </a:lnTo>
                <a:lnTo>
                  <a:pt x="0" y="7233869"/>
                </a:lnTo>
                <a:lnTo>
                  <a:pt x="8103111" y="7233869"/>
                </a:lnTo>
                <a:lnTo>
                  <a:pt x="8103111"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TextBox 8"/>
          <p:cNvSpPr txBox="1"/>
          <p:nvPr/>
        </p:nvSpPr>
        <p:spPr>
          <a:xfrm>
            <a:off x="842308" y="3121502"/>
            <a:ext cx="9073230" cy="5360827"/>
          </a:xfrm>
          <a:prstGeom prst="rect">
            <a:avLst/>
          </a:prstGeom>
        </p:spPr>
        <p:txBody>
          <a:bodyPr lIns="0" tIns="0" rIns="0" bIns="0" rtlCol="0" anchor="t">
            <a:spAutoFit/>
          </a:bodyPr>
          <a:lstStyle/>
          <a:p>
            <a:pPr marL="813434" lvl="1" indent="-457200" algn="just">
              <a:lnSpc>
                <a:spcPts val="3530"/>
              </a:lnSpc>
              <a:buFont typeface="Wingdings" panose="05000000000000000000" pitchFamily="2" charset="2"/>
              <a:buChar char="q"/>
            </a:pPr>
            <a:r>
              <a:rPr lang="en-US" sz="2400" dirty="0">
                <a:solidFill>
                  <a:srgbClr val="000000"/>
                </a:solidFill>
                <a:latin typeface="Sylfaen" panose="010A0502050306030303" pitchFamily="18" charset="0"/>
                <a:ea typeface="Times New Roman"/>
                <a:cs typeface="Times New Roman"/>
                <a:sym typeface="Times New Roman"/>
              </a:rPr>
              <a:t>Frequent and unpredictable forest fires lead to massive environmental destruction, economic losses, and threats to human and animal life.</a:t>
            </a:r>
          </a:p>
          <a:p>
            <a:pPr marL="457200" indent="-457200" algn="just">
              <a:lnSpc>
                <a:spcPts val="3530"/>
              </a:lnSpc>
              <a:buFont typeface="Wingdings" panose="05000000000000000000" pitchFamily="2" charset="2"/>
              <a:buChar char="q"/>
            </a:pPr>
            <a:endParaRPr lang="en-US" sz="2400" dirty="0">
              <a:solidFill>
                <a:srgbClr val="000000"/>
              </a:solidFill>
              <a:latin typeface="Sylfaen" panose="010A0502050306030303" pitchFamily="18" charset="0"/>
              <a:ea typeface="Times New Roman"/>
              <a:cs typeface="Times New Roman"/>
              <a:sym typeface="Times New Roman"/>
            </a:endParaRPr>
          </a:p>
          <a:p>
            <a:pPr marL="813434" lvl="1" indent="-457200" algn="just">
              <a:lnSpc>
                <a:spcPts val="3530"/>
              </a:lnSpc>
              <a:buFont typeface="Wingdings" panose="05000000000000000000" pitchFamily="2" charset="2"/>
              <a:buChar char="q"/>
            </a:pPr>
            <a:r>
              <a:rPr lang="en-US" sz="2400" dirty="0">
                <a:solidFill>
                  <a:srgbClr val="000000"/>
                </a:solidFill>
                <a:latin typeface="Sylfaen" panose="010A0502050306030303" pitchFamily="18" charset="0"/>
                <a:ea typeface="Times New Roman"/>
                <a:cs typeface="Times New Roman"/>
                <a:sym typeface="Times New Roman"/>
              </a:rPr>
              <a:t>Conventional monitoring systems are inefficient in forecasting fire risks accurately due to dependence on manual observation and delayed weather data.</a:t>
            </a:r>
          </a:p>
          <a:p>
            <a:pPr marL="457200" indent="-457200" algn="just">
              <a:lnSpc>
                <a:spcPts val="3530"/>
              </a:lnSpc>
              <a:buFont typeface="Wingdings" panose="05000000000000000000" pitchFamily="2" charset="2"/>
              <a:buChar char="q"/>
            </a:pPr>
            <a:endParaRPr lang="en-US" sz="2400" dirty="0">
              <a:solidFill>
                <a:srgbClr val="000000"/>
              </a:solidFill>
              <a:latin typeface="Sylfaen" panose="010A0502050306030303" pitchFamily="18" charset="0"/>
              <a:ea typeface="Times New Roman"/>
              <a:cs typeface="Times New Roman"/>
              <a:sym typeface="Times New Roman"/>
            </a:endParaRPr>
          </a:p>
          <a:p>
            <a:pPr marL="813434" lvl="1" indent="-457200" algn="just">
              <a:lnSpc>
                <a:spcPts val="3530"/>
              </a:lnSpc>
              <a:buFont typeface="Wingdings" panose="05000000000000000000" pitchFamily="2" charset="2"/>
              <a:buChar char="q"/>
            </a:pPr>
            <a:r>
              <a:rPr lang="en-US" sz="2400" dirty="0">
                <a:solidFill>
                  <a:srgbClr val="000000"/>
                </a:solidFill>
                <a:latin typeface="Sylfaen" panose="010A0502050306030303" pitchFamily="18" charset="0"/>
                <a:ea typeface="Times New Roman"/>
                <a:cs typeface="Times New Roman"/>
                <a:sym typeface="Times New Roman"/>
              </a:rPr>
              <a:t>There is an urgent need for a machine learning based predictive system that can analyze key weather parameters and forecast forest fire risk (High/Low) to support timely preventive actions.</a:t>
            </a:r>
          </a:p>
          <a:p>
            <a:pPr marL="457200" indent="-457200" algn="just">
              <a:lnSpc>
                <a:spcPts val="3530"/>
              </a:lnSpc>
              <a:buFont typeface="Wingdings" panose="05000000000000000000" pitchFamily="2" charset="2"/>
              <a:buChar char="q"/>
            </a:pPr>
            <a:endParaRPr lang="en-US" sz="2400" dirty="0">
              <a:solidFill>
                <a:srgbClr val="000000"/>
              </a:solidFill>
              <a:latin typeface="Sylfaen" panose="010A0502050306030303" pitchFamily="18" charset="0"/>
              <a:ea typeface="Times New Roman"/>
              <a:cs typeface="Times New Roman"/>
              <a:sym typeface="Times New Roman"/>
            </a:endParaRPr>
          </a:p>
        </p:txBody>
      </p:sp>
      <p:sp>
        <p:nvSpPr>
          <p:cNvPr id="9" name="TextBox 9"/>
          <p:cNvSpPr txBox="1"/>
          <p:nvPr/>
        </p:nvSpPr>
        <p:spPr>
          <a:xfrm>
            <a:off x="1917280" y="445675"/>
            <a:ext cx="7074320" cy="2432939"/>
          </a:xfrm>
          <a:prstGeom prst="rect">
            <a:avLst/>
          </a:prstGeom>
        </p:spPr>
        <p:txBody>
          <a:bodyPr wrap="square" lIns="0" tIns="0" rIns="0" bIns="0" rtlCol="0" anchor="t">
            <a:spAutoFit/>
          </a:bodyPr>
          <a:lstStyle/>
          <a:p>
            <a:pPr marL="0" lvl="0" indent="0" algn="ctr">
              <a:lnSpc>
                <a:spcPts val="9523"/>
              </a:lnSpc>
              <a:spcBef>
                <a:spcPct val="0"/>
              </a:spcBef>
            </a:pPr>
            <a:r>
              <a:rPr lang="en-US" sz="8900" dirty="0">
                <a:solidFill>
                  <a:srgbClr val="861E1E"/>
                </a:solidFill>
                <a:latin typeface="League Spartan"/>
                <a:ea typeface="League Spartan"/>
                <a:cs typeface="League Spartan"/>
                <a:sym typeface="League Spartan"/>
              </a:rPr>
              <a:t>PROBLEM STATEMENT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497831"/>
            <a:ext cx="20082410" cy="11282663"/>
          </a:xfrm>
          <a:custGeom>
            <a:avLst/>
            <a:gdLst/>
            <a:ahLst/>
            <a:cxnLst/>
            <a:rect l="l" t="t" r="r" b="b"/>
            <a:pathLst>
              <a:path w="20082410" h="11282663">
                <a:moveTo>
                  <a:pt x="0" y="0"/>
                </a:moveTo>
                <a:lnTo>
                  <a:pt x="20082410" y="0"/>
                </a:lnTo>
                <a:lnTo>
                  <a:pt x="20082410" y="11282662"/>
                </a:lnTo>
                <a:lnTo>
                  <a:pt x="0" y="11282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rot="-5400000">
            <a:off x="-4466778" y="1555131"/>
            <a:ext cx="13101232" cy="7176738"/>
            <a:chOff x="0" y="0"/>
            <a:chExt cx="3450530" cy="1890170"/>
          </a:xfrm>
        </p:grpSpPr>
        <p:sp>
          <p:nvSpPr>
            <p:cNvPr id="4" name="Freeform 4"/>
            <p:cNvSpPr/>
            <p:nvPr/>
          </p:nvSpPr>
          <p:spPr>
            <a:xfrm>
              <a:off x="0" y="0"/>
              <a:ext cx="3450530" cy="1890170"/>
            </a:xfrm>
            <a:custGeom>
              <a:avLst/>
              <a:gdLst/>
              <a:ahLst/>
              <a:cxnLst/>
              <a:rect l="l" t="t" r="r" b="b"/>
              <a:pathLst>
                <a:path w="3450530" h="1890170">
                  <a:moveTo>
                    <a:pt x="1725265" y="0"/>
                  </a:moveTo>
                  <a:cubicBezTo>
                    <a:pt x="772428" y="0"/>
                    <a:pt x="0" y="423129"/>
                    <a:pt x="0" y="945085"/>
                  </a:cubicBezTo>
                  <a:cubicBezTo>
                    <a:pt x="0" y="1467041"/>
                    <a:pt x="772428" y="1890170"/>
                    <a:pt x="1725265" y="1890170"/>
                  </a:cubicBezTo>
                  <a:cubicBezTo>
                    <a:pt x="2678103" y="1890170"/>
                    <a:pt x="3450530" y="1467041"/>
                    <a:pt x="3450530" y="945085"/>
                  </a:cubicBezTo>
                  <a:cubicBezTo>
                    <a:pt x="3450530" y="423129"/>
                    <a:pt x="2678103" y="0"/>
                    <a:pt x="1725265" y="0"/>
                  </a:cubicBezTo>
                  <a:close/>
                </a:path>
              </a:pathLst>
            </a:custGeom>
            <a:solidFill>
              <a:srgbClr val="FBAC9F"/>
            </a:solidFill>
          </p:spPr>
        </p:sp>
        <p:sp>
          <p:nvSpPr>
            <p:cNvPr id="5" name="TextBox 5"/>
            <p:cNvSpPr txBox="1"/>
            <p:nvPr/>
          </p:nvSpPr>
          <p:spPr>
            <a:xfrm>
              <a:off x="323487" y="120053"/>
              <a:ext cx="2803556" cy="159291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364506" y="1374230"/>
            <a:ext cx="2817303" cy="2817303"/>
          </a:xfrm>
          <a:custGeom>
            <a:avLst/>
            <a:gdLst/>
            <a:ahLst/>
            <a:cxnLst/>
            <a:rect l="l" t="t" r="r" b="b"/>
            <a:pathLst>
              <a:path w="2817303" h="2817303">
                <a:moveTo>
                  <a:pt x="0" y="0"/>
                </a:moveTo>
                <a:lnTo>
                  <a:pt x="2817303" y="0"/>
                </a:lnTo>
                <a:lnTo>
                  <a:pt x="2817303" y="2817303"/>
                </a:lnTo>
                <a:lnTo>
                  <a:pt x="0" y="281730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Freeform 7"/>
          <p:cNvSpPr/>
          <p:nvPr/>
        </p:nvSpPr>
        <p:spPr>
          <a:xfrm flipH="1">
            <a:off x="0" y="2995869"/>
            <a:ext cx="8363619" cy="8363619"/>
          </a:xfrm>
          <a:custGeom>
            <a:avLst/>
            <a:gdLst/>
            <a:ahLst/>
            <a:cxnLst/>
            <a:rect l="l" t="t" r="r" b="b"/>
            <a:pathLst>
              <a:path w="8363619" h="8363619">
                <a:moveTo>
                  <a:pt x="8363619" y="0"/>
                </a:moveTo>
                <a:lnTo>
                  <a:pt x="0" y="0"/>
                </a:lnTo>
                <a:lnTo>
                  <a:pt x="0" y="8363619"/>
                </a:lnTo>
                <a:lnTo>
                  <a:pt x="8363619" y="8363619"/>
                </a:lnTo>
                <a:lnTo>
                  <a:pt x="8363619"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TextBox 8"/>
          <p:cNvSpPr txBox="1"/>
          <p:nvPr/>
        </p:nvSpPr>
        <p:spPr>
          <a:xfrm>
            <a:off x="8105012" y="2060067"/>
            <a:ext cx="9154288" cy="5386090"/>
          </a:xfrm>
          <a:prstGeom prst="rect">
            <a:avLst/>
          </a:prstGeom>
        </p:spPr>
        <p:txBody>
          <a:bodyPr lIns="0" tIns="0" rIns="0" bIns="0" rtlCol="0" anchor="t">
            <a:spAutoFit/>
          </a:bodyPr>
          <a:lstStyle/>
          <a:p>
            <a:pPr marL="813436" lvl="1" indent="-457200" algn="just">
              <a:lnSpc>
                <a:spcPts val="3531"/>
              </a:lnSpc>
              <a:buFont typeface="Wingdings" panose="05000000000000000000" pitchFamily="2" charset="2"/>
              <a:buChar char="ü"/>
            </a:pPr>
            <a:r>
              <a:rPr lang="en-US" sz="2400" dirty="0">
                <a:solidFill>
                  <a:srgbClr val="000000"/>
                </a:solidFill>
                <a:latin typeface="Sylfaen" panose="010A0502050306030303" pitchFamily="18" charset="0"/>
                <a:ea typeface="Times New Roman"/>
                <a:cs typeface="Times New Roman"/>
                <a:sym typeface="Times New Roman"/>
              </a:rPr>
              <a:t>This project develops a Machine Learning based system to predict forest fire risk using meteorological factors such as temperature, humidity, wind speed, rainfall, and dryness indices (FFMC, DMC, DC, ISI).</a:t>
            </a:r>
          </a:p>
          <a:p>
            <a:pPr marL="457200" indent="-457200" algn="just">
              <a:lnSpc>
                <a:spcPts val="3531"/>
              </a:lnSpc>
              <a:buFont typeface="Wingdings" panose="05000000000000000000" pitchFamily="2" charset="2"/>
              <a:buChar char="ü"/>
            </a:pPr>
            <a:endParaRPr lang="en-US" sz="2400" dirty="0">
              <a:solidFill>
                <a:srgbClr val="000000"/>
              </a:solidFill>
              <a:latin typeface="Sylfaen" panose="010A0502050306030303" pitchFamily="18" charset="0"/>
              <a:ea typeface="Times New Roman"/>
              <a:cs typeface="Times New Roman"/>
              <a:sym typeface="Times New Roman"/>
            </a:endParaRPr>
          </a:p>
          <a:p>
            <a:pPr marL="813436" lvl="1" indent="-457200" algn="just">
              <a:lnSpc>
                <a:spcPts val="3531"/>
              </a:lnSpc>
              <a:buFont typeface="Wingdings" panose="05000000000000000000" pitchFamily="2" charset="2"/>
              <a:buChar char="ü"/>
            </a:pPr>
            <a:r>
              <a:rPr lang="en-US" sz="2400" dirty="0">
                <a:solidFill>
                  <a:srgbClr val="000000"/>
                </a:solidFill>
                <a:latin typeface="Sylfaen" panose="010A0502050306030303" pitchFamily="18" charset="0"/>
                <a:ea typeface="Times New Roman"/>
                <a:cs typeface="Times New Roman"/>
                <a:sym typeface="Times New Roman"/>
              </a:rPr>
              <a:t>A Random Forest Classifier is trained on historical data to classify the risk as High or Low, and a Flask web application allows users to input real-time weather data to receive instant predictions. </a:t>
            </a:r>
          </a:p>
          <a:p>
            <a:pPr marL="457200" indent="-457200" algn="just">
              <a:lnSpc>
                <a:spcPts val="3531"/>
              </a:lnSpc>
              <a:buFont typeface="Wingdings" panose="05000000000000000000" pitchFamily="2" charset="2"/>
              <a:buChar char="ü"/>
            </a:pPr>
            <a:endParaRPr lang="en-US" sz="2400" dirty="0">
              <a:solidFill>
                <a:srgbClr val="000000"/>
              </a:solidFill>
              <a:latin typeface="Sylfaen" panose="010A0502050306030303" pitchFamily="18" charset="0"/>
              <a:ea typeface="Times New Roman"/>
              <a:cs typeface="Times New Roman"/>
              <a:sym typeface="Times New Roman"/>
            </a:endParaRPr>
          </a:p>
          <a:p>
            <a:pPr marL="813436" lvl="1" indent="-457200" algn="just">
              <a:lnSpc>
                <a:spcPts val="3531"/>
              </a:lnSpc>
              <a:buFont typeface="Wingdings" panose="05000000000000000000" pitchFamily="2" charset="2"/>
              <a:buChar char="ü"/>
            </a:pPr>
            <a:r>
              <a:rPr lang="en-US" sz="2400" dirty="0">
                <a:solidFill>
                  <a:srgbClr val="000000"/>
                </a:solidFill>
                <a:latin typeface="Sylfaen" panose="010A0502050306030303" pitchFamily="18" charset="0"/>
                <a:ea typeface="Times New Roman"/>
                <a:cs typeface="Times New Roman"/>
                <a:sym typeface="Times New Roman"/>
              </a:rPr>
              <a:t>The system provides a proactive, data-driven approach for forest management authorities to take timely preventive measures and reduce the impact of forest fires.</a:t>
            </a:r>
          </a:p>
        </p:txBody>
      </p:sp>
      <p:sp>
        <p:nvSpPr>
          <p:cNvPr id="9" name="TextBox 9"/>
          <p:cNvSpPr txBox="1"/>
          <p:nvPr/>
        </p:nvSpPr>
        <p:spPr>
          <a:xfrm>
            <a:off x="9982200" y="723900"/>
            <a:ext cx="5953378" cy="1117662"/>
          </a:xfrm>
          <a:prstGeom prst="rect">
            <a:avLst/>
          </a:prstGeom>
        </p:spPr>
        <p:txBody>
          <a:bodyPr wrap="square" lIns="0" tIns="0" rIns="0" bIns="0" rtlCol="0" anchor="t">
            <a:spAutoFit/>
          </a:bodyPr>
          <a:lstStyle/>
          <a:p>
            <a:pPr marL="0" lvl="0" indent="0" algn="l">
              <a:lnSpc>
                <a:spcPts val="8521"/>
              </a:lnSpc>
              <a:spcBef>
                <a:spcPct val="0"/>
              </a:spcBef>
            </a:pPr>
            <a:r>
              <a:rPr lang="en-US" sz="7963" dirty="0">
                <a:solidFill>
                  <a:srgbClr val="861E1E"/>
                </a:solidFill>
                <a:latin typeface="League Spartan"/>
                <a:ea typeface="League Spartan"/>
                <a:cs typeface="League Spartan"/>
                <a:sym typeface="League Spartan"/>
              </a:rPr>
              <a:t>ABSTRACT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1237621" y="-442040"/>
            <a:ext cx="20082410" cy="11282663"/>
          </a:xfrm>
          <a:custGeom>
            <a:avLst/>
            <a:gdLst/>
            <a:ahLst/>
            <a:cxnLst/>
            <a:rect l="l" t="t" r="r" b="b"/>
            <a:pathLst>
              <a:path w="20082410" h="11282663">
                <a:moveTo>
                  <a:pt x="0" y="0"/>
                </a:moveTo>
                <a:lnTo>
                  <a:pt x="20082410" y="0"/>
                </a:lnTo>
                <a:lnTo>
                  <a:pt x="20082410" y="11282663"/>
                </a:lnTo>
                <a:lnTo>
                  <a:pt x="0" y="1128266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856105" y="8528598"/>
            <a:ext cx="20000210" cy="3727249"/>
            <a:chOff x="0" y="0"/>
            <a:chExt cx="5267545" cy="981662"/>
          </a:xfrm>
        </p:grpSpPr>
        <p:sp>
          <p:nvSpPr>
            <p:cNvPr id="4" name="Freeform 4"/>
            <p:cNvSpPr/>
            <p:nvPr/>
          </p:nvSpPr>
          <p:spPr>
            <a:xfrm>
              <a:off x="0" y="0"/>
              <a:ext cx="5267545" cy="981662"/>
            </a:xfrm>
            <a:custGeom>
              <a:avLst/>
              <a:gdLst/>
              <a:ahLst/>
              <a:cxnLst/>
              <a:rect l="l" t="t" r="r" b="b"/>
              <a:pathLst>
                <a:path w="5267545" h="981662">
                  <a:moveTo>
                    <a:pt x="2633773" y="0"/>
                  </a:moveTo>
                  <a:cubicBezTo>
                    <a:pt x="1179180" y="0"/>
                    <a:pt x="0" y="219753"/>
                    <a:pt x="0" y="490831"/>
                  </a:cubicBezTo>
                  <a:cubicBezTo>
                    <a:pt x="0" y="761910"/>
                    <a:pt x="1179180" y="981662"/>
                    <a:pt x="2633773" y="981662"/>
                  </a:cubicBezTo>
                  <a:cubicBezTo>
                    <a:pt x="4088365" y="981662"/>
                    <a:pt x="5267545" y="761910"/>
                    <a:pt x="5267545" y="490831"/>
                  </a:cubicBezTo>
                  <a:cubicBezTo>
                    <a:pt x="5267545" y="219753"/>
                    <a:pt x="4088365" y="0"/>
                    <a:pt x="2633773" y="0"/>
                  </a:cubicBezTo>
                  <a:close/>
                </a:path>
              </a:pathLst>
            </a:custGeom>
            <a:solidFill>
              <a:srgbClr val="FBAC9F"/>
            </a:solidFill>
          </p:spPr>
        </p:sp>
        <p:sp>
          <p:nvSpPr>
            <p:cNvPr id="5" name="TextBox 5"/>
            <p:cNvSpPr txBox="1"/>
            <p:nvPr/>
          </p:nvSpPr>
          <p:spPr>
            <a:xfrm>
              <a:off x="493832" y="34881"/>
              <a:ext cx="4279880" cy="854751"/>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6049171" y="0"/>
            <a:ext cx="2238829" cy="2700342"/>
          </a:xfrm>
          <a:custGeom>
            <a:avLst/>
            <a:gdLst/>
            <a:ahLst/>
            <a:cxnLst/>
            <a:rect l="l" t="t" r="r" b="b"/>
            <a:pathLst>
              <a:path w="2238829" h="2700342">
                <a:moveTo>
                  <a:pt x="0" y="0"/>
                </a:moveTo>
                <a:lnTo>
                  <a:pt x="2238829" y="0"/>
                </a:lnTo>
                <a:lnTo>
                  <a:pt x="2238829" y="2700342"/>
                </a:lnTo>
                <a:lnTo>
                  <a:pt x="0" y="2700342"/>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TextBox 7"/>
          <p:cNvSpPr txBox="1"/>
          <p:nvPr/>
        </p:nvSpPr>
        <p:spPr>
          <a:xfrm>
            <a:off x="2633165" y="2458091"/>
            <a:ext cx="13116690" cy="5375318"/>
          </a:xfrm>
          <a:prstGeom prst="rect">
            <a:avLst/>
          </a:prstGeom>
        </p:spPr>
        <p:txBody>
          <a:bodyPr wrap="square" lIns="0" tIns="0" rIns="0" bIns="0" rtlCol="0" anchor="t">
            <a:spAutoFit/>
          </a:bodyPr>
          <a:lstStyle/>
          <a:p>
            <a:pPr algn="just">
              <a:lnSpc>
                <a:spcPts val="3531"/>
              </a:lnSpc>
            </a:pPr>
            <a:r>
              <a:rPr lang="en-US" sz="2800" dirty="0" smtClean="0">
                <a:solidFill>
                  <a:srgbClr val="000000"/>
                </a:solidFill>
                <a:latin typeface="Sylfaen" panose="010A0502050306030303" pitchFamily="18" charset="0"/>
                <a:ea typeface="Times New Roman"/>
                <a:cs typeface="Times New Roman"/>
                <a:sym typeface="Times New Roman"/>
              </a:rPr>
              <a:t>Forest fires are among the most destructive natural disasters, causing severe damage to forests, wildlife, and human settlements. They lead to the loss of biodiversity, soil degradation, and large-scale economic damage. Traditional detection methods such as manual monitoring and satellite surveillance are often slow and inaccurate, making early prevention difficult. This project introduces a Machine Learning based Forest Fire Risk Prediction System that uses meteorological and dryness parameters like temperature, humidity, wind speed, rainfall, FFMC, DMC, DC, and ISI to predict the likelihood of a fire. The system classifies the risk as High or Low and provides real time insights for early warning, helping authorities take proactive preventive measures and promote sustainable forest management. Additionally, this system supports data-driven decision-making for efficient resource planning and rapid emergency response.</a:t>
            </a:r>
          </a:p>
          <a:p>
            <a:pPr marL="0" lvl="0" indent="0" algn="just">
              <a:lnSpc>
                <a:spcPts val="3531"/>
              </a:lnSpc>
              <a:spcBef>
                <a:spcPct val="0"/>
              </a:spcBef>
            </a:pPr>
            <a:endParaRPr lang="en-US" sz="2800" dirty="0">
              <a:solidFill>
                <a:srgbClr val="000000"/>
              </a:solidFill>
              <a:latin typeface="Sylfaen" panose="010A0502050306030303" pitchFamily="18" charset="0"/>
              <a:ea typeface="Times New Roman"/>
              <a:cs typeface="Times New Roman"/>
              <a:sym typeface="Times New Roman"/>
            </a:endParaRPr>
          </a:p>
        </p:txBody>
      </p:sp>
      <p:sp>
        <p:nvSpPr>
          <p:cNvPr id="8" name="TextBox 8"/>
          <p:cNvSpPr txBox="1"/>
          <p:nvPr/>
        </p:nvSpPr>
        <p:spPr>
          <a:xfrm>
            <a:off x="4684734" y="1123950"/>
            <a:ext cx="8269266" cy="1117893"/>
          </a:xfrm>
          <a:prstGeom prst="rect">
            <a:avLst/>
          </a:prstGeom>
        </p:spPr>
        <p:txBody>
          <a:bodyPr wrap="square" lIns="0" tIns="0" rIns="0" bIns="0" rtlCol="0" anchor="t">
            <a:spAutoFit/>
          </a:bodyPr>
          <a:lstStyle/>
          <a:p>
            <a:pPr marL="0" lvl="0" indent="0" algn="l">
              <a:lnSpc>
                <a:spcPts val="8521"/>
              </a:lnSpc>
              <a:spcBef>
                <a:spcPct val="0"/>
              </a:spcBef>
            </a:pPr>
            <a:r>
              <a:rPr lang="en-US" sz="7963" dirty="0">
                <a:solidFill>
                  <a:srgbClr val="861E1E"/>
                </a:solidFill>
                <a:latin typeface="League Spartan"/>
                <a:ea typeface="League Spartan"/>
                <a:cs typeface="League Spartan"/>
                <a:sym typeface="League Spartan"/>
              </a:rPr>
              <a:t>INTRODUCTION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497831"/>
            <a:ext cx="20082410" cy="11282663"/>
          </a:xfrm>
          <a:custGeom>
            <a:avLst/>
            <a:gdLst/>
            <a:ahLst/>
            <a:cxnLst/>
            <a:rect l="l" t="t" r="r" b="b"/>
            <a:pathLst>
              <a:path w="20082410" h="11282663">
                <a:moveTo>
                  <a:pt x="0" y="0"/>
                </a:moveTo>
                <a:lnTo>
                  <a:pt x="20082410" y="0"/>
                </a:lnTo>
                <a:lnTo>
                  <a:pt x="20082410" y="11282662"/>
                </a:lnTo>
                <a:lnTo>
                  <a:pt x="0" y="11282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rot="-8415629">
            <a:off x="-7707496" y="6536360"/>
            <a:ext cx="20463146" cy="10233442"/>
            <a:chOff x="0" y="0"/>
            <a:chExt cx="5444815" cy="2722905"/>
          </a:xfrm>
        </p:grpSpPr>
        <p:sp>
          <p:nvSpPr>
            <p:cNvPr id="4" name="Freeform 4"/>
            <p:cNvSpPr/>
            <p:nvPr/>
          </p:nvSpPr>
          <p:spPr>
            <a:xfrm>
              <a:off x="0" y="0"/>
              <a:ext cx="5444815" cy="2722905"/>
            </a:xfrm>
            <a:custGeom>
              <a:avLst/>
              <a:gdLst/>
              <a:ahLst/>
              <a:cxnLst/>
              <a:rect l="l" t="t" r="r" b="b"/>
              <a:pathLst>
                <a:path w="5444815" h="2722905">
                  <a:moveTo>
                    <a:pt x="2722407" y="0"/>
                  </a:moveTo>
                  <a:cubicBezTo>
                    <a:pt x="1218863" y="0"/>
                    <a:pt x="0" y="609543"/>
                    <a:pt x="0" y="1361452"/>
                  </a:cubicBezTo>
                  <a:cubicBezTo>
                    <a:pt x="0" y="2113362"/>
                    <a:pt x="1218863" y="2722905"/>
                    <a:pt x="2722407" y="2722905"/>
                  </a:cubicBezTo>
                  <a:cubicBezTo>
                    <a:pt x="4225951" y="2722905"/>
                    <a:pt x="5444815" y="2113362"/>
                    <a:pt x="5444815" y="1361452"/>
                  </a:cubicBezTo>
                  <a:cubicBezTo>
                    <a:pt x="5444815" y="609543"/>
                    <a:pt x="4225951" y="0"/>
                    <a:pt x="2722407" y="0"/>
                  </a:cubicBezTo>
                  <a:close/>
                </a:path>
              </a:pathLst>
            </a:custGeom>
            <a:solidFill>
              <a:srgbClr val="FBAC9F"/>
            </a:solidFill>
          </p:spPr>
        </p:sp>
        <p:sp>
          <p:nvSpPr>
            <p:cNvPr id="5" name="TextBox 5"/>
            <p:cNvSpPr txBox="1"/>
            <p:nvPr/>
          </p:nvSpPr>
          <p:spPr>
            <a:xfrm>
              <a:off x="510451" y="198122"/>
              <a:ext cx="4423912" cy="2269510"/>
            </a:xfrm>
            <a:prstGeom prst="rect">
              <a:avLst/>
            </a:prstGeom>
          </p:spPr>
          <p:txBody>
            <a:bodyPr lIns="50800" tIns="50800" rIns="50800" bIns="50800" rtlCol="0" anchor="ctr"/>
            <a:lstStyle/>
            <a:p>
              <a:pPr algn="ctr">
                <a:lnSpc>
                  <a:spcPts val="2659"/>
                </a:lnSpc>
                <a:spcBef>
                  <a:spcPct val="0"/>
                </a:spcBef>
              </a:pPr>
              <a:endParaRPr sz="2800">
                <a:latin typeface="Sylfaen" panose="010A0502050306030303" pitchFamily="18" charset="0"/>
              </a:endParaRPr>
            </a:p>
          </p:txBody>
        </p:sp>
      </p:grpSp>
      <p:sp>
        <p:nvSpPr>
          <p:cNvPr id="6" name="Freeform 6"/>
          <p:cNvSpPr/>
          <p:nvPr/>
        </p:nvSpPr>
        <p:spPr>
          <a:xfrm>
            <a:off x="52440" y="0"/>
            <a:ext cx="1952520" cy="2355014"/>
          </a:xfrm>
          <a:custGeom>
            <a:avLst/>
            <a:gdLst/>
            <a:ahLst/>
            <a:cxnLst/>
            <a:rect l="l" t="t" r="r" b="b"/>
            <a:pathLst>
              <a:path w="1952520" h="2355014">
                <a:moveTo>
                  <a:pt x="0" y="0"/>
                </a:moveTo>
                <a:lnTo>
                  <a:pt x="1952520" y="0"/>
                </a:lnTo>
                <a:lnTo>
                  <a:pt x="1952520" y="2355014"/>
                </a:lnTo>
                <a:lnTo>
                  <a:pt x="0" y="235501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Freeform 7"/>
          <p:cNvSpPr/>
          <p:nvPr/>
        </p:nvSpPr>
        <p:spPr>
          <a:xfrm flipH="1">
            <a:off x="-941639" y="2850076"/>
            <a:ext cx="6642635" cy="11417030"/>
          </a:xfrm>
          <a:custGeom>
            <a:avLst/>
            <a:gdLst/>
            <a:ahLst/>
            <a:cxnLst/>
            <a:rect l="l" t="t" r="r" b="b"/>
            <a:pathLst>
              <a:path w="6642635" h="11417030">
                <a:moveTo>
                  <a:pt x="6642635" y="0"/>
                </a:moveTo>
                <a:lnTo>
                  <a:pt x="0" y="0"/>
                </a:lnTo>
                <a:lnTo>
                  <a:pt x="0" y="11417030"/>
                </a:lnTo>
                <a:lnTo>
                  <a:pt x="6642635" y="11417030"/>
                </a:lnTo>
                <a:lnTo>
                  <a:pt x="6642635"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Freeform 8"/>
          <p:cNvSpPr/>
          <p:nvPr/>
        </p:nvSpPr>
        <p:spPr>
          <a:xfrm rot="1427460">
            <a:off x="3640108" y="6718449"/>
            <a:ext cx="1733097" cy="3441167"/>
          </a:xfrm>
          <a:custGeom>
            <a:avLst/>
            <a:gdLst/>
            <a:ahLst/>
            <a:cxnLst/>
            <a:rect l="l" t="t" r="r" b="b"/>
            <a:pathLst>
              <a:path w="1733097" h="3441167">
                <a:moveTo>
                  <a:pt x="0" y="0"/>
                </a:moveTo>
                <a:lnTo>
                  <a:pt x="1733097" y="0"/>
                </a:lnTo>
                <a:lnTo>
                  <a:pt x="1733097" y="3441166"/>
                </a:lnTo>
                <a:lnTo>
                  <a:pt x="0" y="344116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grpSp>
        <p:nvGrpSpPr>
          <p:cNvPr id="9" name="Group 9"/>
          <p:cNvGrpSpPr/>
          <p:nvPr/>
        </p:nvGrpSpPr>
        <p:grpSpPr>
          <a:xfrm rot="-8890260">
            <a:off x="12649665" y="-4473466"/>
            <a:ext cx="12837518" cy="7449026"/>
            <a:chOff x="0" y="0"/>
            <a:chExt cx="5267545" cy="3056516"/>
          </a:xfrm>
        </p:grpSpPr>
        <p:sp>
          <p:nvSpPr>
            <p:cNvPr id="10" name="Freeform 10"/>
            <p:cNvSpPr/>
            <p:nvPr/>
          </p:nvSpPr>
          <p:spPr>
            <a:xfrm>
              <a:off x="0" y="0"/>
              <a:ext cx="5267545" cy="3056516"/>
            </a:xfrm>
            <a:custGeom>
              <a:avLst/>
              <a:gdLst/>
              <a:ahLst/>
              <a:cxnLst/>
              <a:rect l="l" t="t" r="r" b="b"/>
              <a:pathLst>
                <a:path w="5267545" h="3056516">
                  <a:moveTo>
                    <a:pt x="2633773" y="0"/>
                  </a:moveTo>
                  <a:cubicBezTo>
                    <a:pt x="1179180" y="0"/>
                    <a:pt x="0" y="684224"/>
                    <a:pt x="0" y="1528258"/>
                  </a:cubicBezTo>
                  <a:cubicBezTo>
                    <a:pt x="0" y="2372292"/>
                    <a:pt x="1179180" y="3056516"/>
                    <a:pt x="2633773" y="3056516"/>
                  </a:cubicBezTo>
                  <a:cubicBezTo>
                    <a:pt x="4088365" y="3056516"/>
                    <a:pt x="5267545" y="2372292"/>
                    <a:pt x="5267545" y="1528258"/>
                  </a:cubicBezTo>
                  <a:cubicBezTo>
                    <a:pt x="5267545" y="684224"/>
                    <a:pt x="4088365" y="0"/>
                    <a:pt x="2633773" y="0"/>
                  </a:cubicBezTo>
                  <a:close/>
                </a:path>
              </a:pathLst>
            </a:custGeom>
            <a:solidFill>
              <a:srgbClr val="FBAC9F"/>
            </a:solidFill>
          </p:spPr>
        </p:sp>
        <p:sp>
          <p:nvSpPr>
            <p:cNvPr id="11" name="TextBox 11"/>
            <p:cNvSpPr txBox="1"/>
            <p:nvPr/>
          </p:nvSpPr>
          <p:spPr>
            <a:xfrm>
              <a:off x="493832" y="229398"/>
              <a:ext cx="4279880" cy="2540569"/>
            </a:xfrm>
            <a:prstGeom prst="rect">
              <a:avLst/>
            </a:prstGeom>
          </p:spPr>
          <p:txBody>
            <a:bodyPr lIns="50800" tIns="50800" rIns="50800" bIns="50800" rtlCol="0" anchor="ctr"/>
            <a:lstStyle/>
            <a:p>
              <a:pPr algn="ctr">
                <a:lnSpc>
                  <a:spcPts val="2659"/>
                </a:lnSpc>
                <a:spcBef>
                  <a:spcPct val="0"/>
                </a:spcBef>
              </a:pPr>
              <a:endParaRPr sz="2800">
                <a:latin typeface="Sylfaen" panose="010A0502050306030303" pitchFamily="18" charset="0"/>
              </a:endParaRPr>
            </a:p>
          </p:txBody>
        </p:sp>
      </p:grpSp>
      <p:grpSp>
        <p:nvGrpSpPr>
          <p:cNvPr id="12" name="Group 12"/>
          <p:cNvGrpSpPr/>
          <p:nvPr/>
        </p:nvGrpSpPr>
        <p:grpSpPr>
          <a:xfrm>
            <a:off x="6513622" y="2233508"/>
            <a:ext cx="266380" cy="260254"/>
            <a:chOff x="0" y="0"/>
            <a:chExt cx="831931" cy="812800"/>
          </a:xfrm>
        </p:grpSpPr>
        <p:sp>
          <p:nvSpPr>
            <p:cNvPr id="13" name="Freeform 13"/>
            <p:cNvSpPr/>
            <p:nvPr/>
          </p:nvSpPr>
          <p:spPr>
            <a:xfrm>
              <a:off x="0" y="0"/>
              <a:ext cx="831931" cy="812800"/>
            </a:xfrm>
            <a:custGeom>
              <a:avLst/>
              <a:gdLst/>
              <a:ahLst/>
              <a:cxnLst/>
              <a:rect l="l" t="t" r="r" b="b"/>
              <a:pathLst>
                <a:path w="831931" h="812800">
                  <a:moveTo>
                    <a:pt x="415966" y="0"/>
                  </a:moveTo>
                  <a:cubicBezTo>
                    <a:pt x="186234" y="0"/>
                    <a:pt x="0" y="181951"/>
                    <a:pt x="0" y="406400"/>
                  </a:cubicBezTo>
                  <a:cubicBezTo>
                    <a:pt x="0" y="630849"/>
                    <a:pt x="186234" y="812800"/>
                    <a:pt x="415966" y="812800"/>
                  </a:cubicBezTo>
                  <a:cubicBezTo>
                    <a:pt x="645697" y="812800"/>
                    <a:pt x="831931" y="630849"/>
                    <a:pt x="831931" y="406400"/>
                  </a:cubicBezTo>
                  <a:cubicBezTo>
                    <a:pt x="831931" y="181951"/>
                    <a:pt x="645697" y="0"/>
                    <a:pt x="415966" y="0"/>
                  </a:cubicBezTo>
                  <a:close/>
                </a:path>
              </a:pathLst>
            </a:custGeom>
            <a:solidFill>
              <a:srgbClr val="BC444D"/>
            </a:solidFill>
          </p:spPr>
        </p:sp>
        <p:sp>
          <p:nvSpPr>
            <p:cNvPr id="14" name="TextBox 14"/>
            <p:cNvSpPr txBox="1"/>
            <p:nvPr/>
          </p:nvSpPr>
          <p:spPr>
            <a:xfrm>
              <a:off x="77994" y="-9525"/>
              <a:ext cx="675944" cy="746125"/>
            </a:xfrm>
            <a:prstGeom prst="rect">
              <a:avLst/>
            </a:prstGeom>
          </p:spPr>
          <p:txBody>
            <a:bodyPr lIns="50800" tIns="50800" rIns="50800" bIns="50800" rtlCol="0" anchor="ctr"/>
            <a:lstStyle/>
            <a:p>
              <a:pPr algn="ctr">
                <a:lnSpc>
                  <a:spcPts val="4620"/>
                </a:lnSpc>
              </a:pPr>
              <a:endParaRPr sz="2800">
                <a:latin typeface="Sylfaen" panose="010A0502050306030303" pitchFamily="18" charset="0"/>
              </a:endParaRPr>
            </a:p>
          </p:txBody>
        </p:sp>
      </p:grpSp>
      <p:sp>
        <p:nvSpPr>
          <p:cNvPr id="15" name="TextBox 15"/>
          <p:cNvSpPr txBox="1"/>
          <p:nvPr/>
        </p:nvSpPr>
        <p:spPr>
          <a:xfrm>
            <a:off x="7107999" y="3342456"/>
            <a:ext cx="8326466" cy="1354728"/>
          </a:xfrm>
          <a:prstGeom prst="rect">
            <a:avLst/>
          </a:prstGeom>
        </p:spPr>
        <p:txBody>
          <a:bodyPr lIns="0" tIns="0" rIns="0" bIns="0" rtlCol="0" anchor="t">
            <a:spAutoFit/>
          </a:bodyPr>
          <a:lstStyle/>
          <a:p>
            <a:pPr marL="0" lvl="0" indent="0" algn="just">
              <a:lnSpc>
                <a:spcPts val="3495"/>
              </a:lnSpc>
              <a:spcBef>
                <a:spcPct val="0"/>
              </a:spcBef>
            </a:pPr>
            <a:r>
              <a:rPr lang="en-US" sz="2800" dirty="0">
                <a:solidFill>
                  <a:srgbClr val="000000"/>
                </a:solidFill>
                <a:latin typeface="Sylfaen" panose="010A0502050306030303" pitchFamily="18" charset="0"/>
                <a:ea typeface="Times New Roman"/>
                <a:cs typeface="Times New Roman"/>
                <a:sym typeface="Times New Roman"/>
              </a:rPr>
              <a:t>Analyze key meteorological and dryness parameters such as temperature, humidity, wind speed, and rainfall.</a:t>
            </a:r>
          </a:p>
        </p:txBody>
      </p:sp>
      <p:sp>
        <p:nvSpPr>
          <p:cNvPr id="16" name="TextBox 16"/>
          <p:cNvSpPr txBox="1"/>
          <p:nvPr/>
        </p:nvSpPr>
        <p:spPr>
          <a:xfrm>
            <a:off x="7486555" y="488355"/>
            <a:ext cx="6420281" cy="1117893"/>
          </a:xfrm>
          <a:prstGeom prst="rect">
            <a:avLst/>
          </a:prstGeom>
        </p:spPr>
        <p:txBody>
          <a:bodyPr wrap="square" lIns="0" tIns="0" rIns="0" bIns="0" rtlCol="0" anchor="t">
            <a:spAutoFit/>
          </a:bodyPr>
          <a:lstStyle/>
          <a:p>
            <a:pPr marL="0" lvl="0" indent="0" algn="l">
              <a:lnSpc>
                <a:spcPts val="8521"/>
              </a:lnSpc>
              <a:spcBef>
                <a:spcPct val="0"/>
              </a:spcBef>
            </a:pPr>
            <a:r>
              <a:rPr lang="en-US" sz="7960" dirty="0">
                <a:solidFill>
                  <a:srgbClr val="861E1E"/>
                </a:solidFill>
                <a:latin typeface="League Spartan" panose="020B0604020202020204" charset="0"/>
                <a:ea typeface="League Spartan"/>
                <a:cs typeface="League Spartan"/>
                <a:sym typeface="League Spartan"/>
              </a:rPr>
              <a:t>OBJECTIVES</a:t>
            </a:r>
          </a:p>
        </p:txBody>
      </p:sp>
      <p:sp>
        <p:nvSpPr>
          <p:cNvPr id="17" name="TextBox 17"/>
          <p:cNvSpPr txBox="1"/>
          <p:nvPr/>
        </p:nvSpPr>
        <p:spPr>
          <a:xfrm>
            <a:off x="7107999" y="6362410"/>
            <a:ext cx="8326466" cy="911603"/>
          </a:xfrm>
          <a:prstGeom prst="rect">
            <a:avLst/>
          </a:prstGeom>
        </p:spPr>
        <p:txBody>
          <a:bodyPr lIns="0" tIns="0" rIns="0" bIns="0" rtlCol="0" anchor="t">
            <a:spAutoFit/>
          </a:bodyPr>
          <a:lstStyle/>
          <a:p>
            <a:pPr marL="0" lvl="0" indent="0" algn="just">
              <a:lnSpc>
                <a:spcPts val="3495"/>
              </a:lnSpc>
              <a:spcBef>
                <a:spcPct val="0"/>
              </a:spcBef>
            </a:pPr>
            <a:r>
              <a:rPr lang="en-US" sz="2800">
                <a:solidFill>
                  <a:srgbClr val="000000"/>
                </a:solidFill>
                <a:latin typeface="Sylfaen" panose="010A0502050306030303" pitchFamily="18" charset="0"/>
                <a:ea typeface="Times New Roman"/>
                <a:cs typeface="Times New Roman"/>
                <a:sym typeface="Times New Roman"/>
              </a:rPr>
              <a:t>Develop a Flask-based web application for real-time fire risk prediction.</a:t>
            </a:r>
          </a:p>
        </p:txBody>
      </p:sp>
      <p:sp>
        <p:nvSpPr>
          <p:cNvPr id="18" name="TextBox 18"/>
          <p:cNvSpPr txBox="1"/>
          <p:nvPr/>
        </p:nvSpPr>
        <p:spPr>
          <a:xfrm>
            <a:off x="7107999" y="2052248"/>
            <a:ext cx="8326466" cy="911603"/>
          </a:xfrm>
          <a:prstGeom prst="rect">
            <a:avLst/>
          </a:prstGeom>
        </p:spPr>
        <p:txBody>
          <a:bodyPr lIns="0" tIns="0" rIns="0" bIns="0" rtlCol="0" anchor="t">
            <a:spAutoFit/>
          </a:bodyPr>
          <a:lstStyle/>
          <a:p>
            <a:pPr marL="0" lvl="0" indent="0" algn="just">
              <a:lnSpc>
                <a:spcPts val="3495"/>
              </a:lnSpc>
              <a:spcBef>
                <a:spcPct val="0"/>
              </a:spcBef>
            </a:pPr>
            <a:r>
              <a:rPr lang="en-US" sz="2800" dirty="0">
                <a:solidFill>
                  <a:srgbClr val="000000"/>
                </a:solidFill>
                <a:latin typeface="Sylfaen" panose="010A0502050306030303" pitchFamily="18" charset="0"/>
                <a:ea typeface="Times New Roman"/>
                <a:cs typeface="Times New Roman"/>
                <a:sym typeface="Times New Roman"/>
              </a:rPr>
              <a:t>Predict the likelihood of forest fires using Machine Learning.</a:t>
            </a:r>
          </a:p>
        </p:txBody>
      </p:sp>
      <p:sp>
        <p:nvSpPr>
          <p:cNvPr id="19" name="TextBox 19"/>
          <p:cNvSpPr txBox="1"/>
          <p:nvPr/>
        </p:nvSpPr>
        <p:spPr>
          <a:xfrm>
            <a:off x="7108105" y="7641906"/>
            <a:ext cx="8326466" cy="912259"/>
          </a:xfrm>
          <a:prstGeom prst="rect">
            <a:avLst/>
          </a:prstGeom>
        </p:spPr>
        <p:txBody>
          <a:bodyPr lIns="0" tIns="0" rIns="0" bIns="0" rtlCol="0" anchor="t">
            <a:spAutoFit/>
          </a:bodyPr>
          <a:lstStyle/>
          <a:p>
            <a:pPr marL="0" lvl="0" indent="0" algn="just">
              <a:lnSpc>
                <a:spcPts val="3524"/>
              </a:lnSpc>
              <a:spcBef>
                <a:spcPct val="0"/>
              </a:spcBef>
            </a:pPr>
            <a:r>
              <a:rPr lang="en-US" sz="2800" dirty="0">
                <a:solidFill>
                  <a:srgbClr val="000000"/>
                </a:solidFill>
                <a:latin typeface="Sylfaen" panose="010A0502050306030303" pitchFamily="18" charset="0"/>
                <a:ea typeface="Times New Roman"/>
                <a:cs typeface="Times New Roman"/>
                <a:sym typeface="Times New Roman"/>
              </a:rPr>
              <a:t>Support early warning systems and promote sustainable forest management.</a:t>
            </a:r>
          </a:p>
        </p:txBody>
      </p:sp>
      <p:sp>
        <p:nvSpPr>
          <p:cNvPr id="20" name="TextBox 20"/>
          <p:cNvSpPr txBox="1"/>
          <p:nvPr/>
        </p:nvSpPr>
        <p:spPr>
          <a:xfrm>
            <a:off x="7107999" y="5072830"/>
            <a:ext cx="8326466" cy="911603"/>
          </a:xfrm>
          <a:prstGeom prst="rect">
            <a:avLst/>
          </a:prstGeom>
        </p:spPr>
        <p:txBody>
          <a:bodyPr lIns="0" tIns="0" rIns="0" bIns="0" rtlCol="0" anchor="t">
            <a:spAutoFit/>
          </a:bodyPr>
          <a:lstStyle/>
          <a:p>
            <a:pPr marL="0" lvl="0" indent="0" algn="just">
              <a:lnSpc>
                <a:spcPts val="3495"/>
              </a:lnSpc>
              <a:spcBef>
                <a:spcPct val="0"/>
              </a:spcBef>
            </a:pPr>
            <a:r>
              <a:rPr lang="en-US" sz="2800" dirty="0">
                <a:solidFill>
                  <a:srgbClr val="000000"/>
                </a:solidFill>
                <a:latin typeface="Sylfaen" panose="010A0502050306030303" pitchFamily="18" charset="0"/>
                <a:ea typeface="Times New Roman"/>
                <a:cs typeface="Times New Roman"/>
                <a:sym typeface="Times New Roman"/>
              </a:rPr>
              <a:t>Classify fire-risk levels as High or Low for better decision-making.</a:t>
            </a:r>
          </a:p>
        </p:txBody>
      </p:sp>
      <p:grpSp>
        <p:nvGrpSpPr>
          <p:cNvPr id="21" name="Group 21"/>
          <p:cNvGrpSpPr/>
          <p:nvPr/>
        </p:nvGrpSpPr>
        <p:grpSpPr>
          <a:xfrm>
            <a:off x="6513622" y="5213037"/>
            <a:ext cx="266380" cy="260254"/>
            <a:chOff x="0" y="0"/>
            <a:chExt cx="831931" cy="812800"/>
          </a:xfrm>
        </p:grpSpPr>
        <p:sp>
          <p:nvSpPr>
            <p:cNvPr id="22" name="Freeform 22"/>
            <p:cNvSpPr/>
            <p:nvPr/>
          </p:nvSpPr>
          <p:spPr>
            <a:xfrm>
              <a:off x="0" y="0"/>
              <a:ext cx="831931" cy="812800"/>
            </a:xfrm>
            <a:custGeom>
              <a:avLst/>
              <a:gdLst/>
              <a:ahLst/>
              <a:cxnLst/>
              <a:rect l="l" t="t" r="r" b="b"/>
              <a:pathLst>
                <a:path w="831931" h="812800">
                  <a:moveTo>
                    <a:pt x="415966" y="0"/>
                  </a:moveTo>
                  <a:cubicBezTo>
                    <a:pt x="186234" y="0"/>
                    <a:pt x="0" y="181951"/>
                    <a:pt x="0" y="406400"/>
                  </a:cubicBezTo>
                  <a:cubicBezTo>
                    <a:pt x="0" y="630849"/>
                    <a:pt x="186234" y="812800"/>
                    <a:pt x="415966" y="812800"/>
                  </a:cubicBezTo>
                  <a:cubicBezTo>
                    <a:pt x="645697" y="812800"/>
                    <a:pt x="831931" y="630849"/>
                    <a:pt x="831931" y="406400"/>
                  </a:cubicBezTo>
                  <a:cubicBezTo>
                    <a:pt x="831931" y="181951"/>
                    <a:pt x="645697" y="0"/>
                    <a:pt x="415966" y="0"/>
                  </a:cubicBezTo>
                  <a:close/>
                </a:path>
              </a:pathLst>
            </a:custGeom>
            <a:solidFill>
              <a:srgbClr val="BC444D"/>
            </a:solidFill>
          </p:spPr>
        </p:sp>
        <p:sp>
          <p:nvSpPr>
            <p:cNvPr id="23" name="TextBox 23"/>
            <p:cNvSpPr txBox="1"/>
            <p:nvPr/>
          </p:nvSpPr>
          <p:spPr>
            <a:xfrm>
              <a:off x="77994" y="-9525"/>
              <a:ext cx="675944" cy="746125"/>
            </a:xfrm>
            <a:prstGeom prst="rect">
              <a:avLst/>
            </a:prstGeom>
          </p:spPr>
          <p:txBody>
            <a:bodyPr lIns="50800" tIns="50800" rIns="50800" bIns="50800" rtlCol="0" anchor="ctr"/>
            <a:lstStyle/>
            <a:p>
              <a:pPr algn="ctr">
                <a:lnSpc>
                  <a:spcPts val="4620"/>
                </a:lnSpc>
              </a:pPr>
              <a:endParaRPr sz="2800">
                <a:latin typeface="Sylfaen" panose="010A0502050306030303" pitchFamily="18" charset="0"/>
              </a:endParaRPr>
            </a:p>
          </p:txBody>
        </p:sp>
      </p:grpSp>
      <p:grpSp>
        <p:nvGrpSpPr>
          <p:cNvPr id="24" name="Group 24"/>
          <p:cNvGrpSpPr/>
          <p:nvPr/>
        </p:nvGrpSpPr>
        <p:grpSpPr>
          <a:xfrm>
            <a:off x="6513622" y="3494029"/>
            <a:ext cx="266380" cy="260254"/>
            <a:chOff x="0" y="0"/>
            <a:chExt cx="831931" cy="812800"/>
          </a:xfrm>
        </p:grpSpPr>
        <p:sp>
          <p:nvSpPr>
            <p:cNvPr id="25" name="Freeform 25"/>
            <p:cNvSpPr/>
            <p:nvPr/>
          </p:nvSpPr>
          <p:spPr>
            <a:xfrm>
              <a:off x="0" y="0"/>
              <a:ext cx="831931" cy="812800"/>
            </a:xfrm>
            <a:custGeom>
              <a:avLst/>
              <a:gdLst/>
              <a:ahLst/>
              <a:cxnLst/>
              <a:rect l="l" t="t" r="r" b="b"/>
              <a:pathLst>
                <a:path w="831931" h="812800">
                  <a:moveTo>
                    <a:pt x="415966" y="0"/>
                  </a:moveTo>
                  <a:cubicBezTo>
                    <a:pt x="186234" y="0"/>
                    <a:pt x="0" y="181951"/>
                    <a:pt x="0" y="406400"/>
                  </a:cubicBezTo>
                  <a:cubicBezTo>
                    <a:pt x="0" y="630849"/>
                    <a:pt x="186234" y="812800"/>
                    <a:pt x="415966" y="812800"/>
                  </a:cubicBezTo>
                  <a:cubicBezTo>
                    <a:pt x="645697" y="812800"/>
                    <a:pt x="831931" y="630849"/>
                    <a:pt x="831931" y="406400"/>
                  </a:cubicBezTo>
                  <a:cubicBezTo>
                    <a:pt x="831931" y="181951"/>
                    <a:pt x="645697" y="0"/>
                    <a:pt x="415966" y="0"/>
                  </a:cubicBezTo>
                  <a:close/>
                </a:path>
              </a:pathLst>
            </a:custGeom>
            <a:solidFill>
              <a:srgbClr val="BC444D"/>
            </a:solidFill>
          </p:spPr>
        </p:sp>
        <p:sp>
          <p:nvSpPr>
            <p:cNvPr id="26" name="TextBox 26"/>
            <p:cNvSpPr txBox="1"/>
            <p:nvPr/>
          </p:nvSpPr>
          <p:spPr>
            <a:xfrm>
              <a:off x="77994" y="-9525"/>
              <a:ext cx="675944" cy="746125"/>
            </a:xfrm>
            <a:prstGeom prst="rect">
              <a:avLst/>
            </a:prstGeom>
          </p:spPr>
          <p:txBody>
            <a:bodyPr lIns="50800" tIns="50800" rIns="50800" bIns="50800" rtlCol="0" anchor="ctr"/>
            <a:lstStyle/>
            <a:p>
              <a:pPr algn="ctr">
                <a:lnSpc>
                  <a:spcPts val="4620"/>
                </a:lnSpc>
              </a:pPr>
              <a:endParaRPr sz="2800">
                <a:latin typeface="Sylfaen" panose="010A0502050306030303" pitchFamily="18" charset="0"/>
              </a:endParaRPr>
            </a:p>
          </p:txBody>
        </p:sp>
      </p:grpSp>
      <p:grpSp>
        <p:nvGrpSpPr>
          <p:cNvPr id="27" name="Group 27"/>
          <p:cNvGrpSpPr/>
          <p:nvPr/>
        </p:nvGrpSpPr>
        <p:grpSpPr>
          <a:xfrm>
            <a:off x="6513622" y="6543670"/>
            <a:ext cx="266380" cy="260254"/>
            <a:chOff x="0" y="0"/>
            <a:chExt cx="831931" cy="812800"/>
          </a:xfrm>
        </p:grpSpPr>
        <p:sp>
          <p:nvSpPr>
            <p:cNvPr id="28" name="Freeform 28"/>
            <p:cNvSpPr/>
            <p:nvPr/>
          </p:nvSpPr>
          <p:spPr>
            <a:xfrm>
              <a:off x="0" y="0"/>
              <a:ext cx="831931" cy="812800"/>
            </a:xfrm>
            <a:custGeom>
              <a:avLst/>
              <a:gdLst/>
              <a:ahLst/>
              <a:cxnLst/>
              <a:rect l="l" t="t" r="r" b="b"/>
              <a:pathLst>
                <a:path w="831931" h="812800">
                  <a:moveTo>
                    <a:pt x="415966" y="0"/>
                  </a:moveTo>
                  <a:cubicBezTo>
                    <a:pt x="186234" y="0"/>
                    <a:pt x="0" y="181951"/>
                    <a:pt x="0" y="406400"/>
                  </a:cubicBezTo>
                  <a:cubicBezTo>
                    <a:pt x="0" y="630849"/>
                    <a:pt x="186234" y="812800"/>
                    <a:pt x="415966" y="812800"/>
                  </a:cubicBezTo>
                  <a:cubicBezTo>
                    <a:pt x="645697" y="812800"/>
                    <a:pt x="831931" y="630849"/>
                    <a:pt x="831931" y="406400"/>
                  </a:cubicBezTo>
                  <a:cubicBezTo>
                    <a:pt x="831931" y="181951"/>
                    <a:pt x="645697" y="0"/>
                    <a:pt x="415966" y="0"/>
                  </a:cubicBezTo>
                  <a:close/>
                </a:path>
              </a:pathLst>
            </a:custGeom>
            <a:solidFill>
              <a:srgbClr val="BC444D"/>
            </a:solidFill>
          </p:spPr>
        </p:sp>
        <p:sp>
          <p:nvSpPr>
            <p:cNvPr id="29" name="TextBox 29"/>
            <p:cNvSpPr txBox="1"/>
            <p:nvPr/>
          </p:nvSpPr>
          <p:spPr>
            <a:xfrm>
              <a:off x="77994" y="-9525"/>
              <a:ext cx="675944" cy="746125"/>
            </a:xfrm>
            <a:prstGeom prst="rect">
              <a:avLst/>
            </a:prstGeom>
          </p:spPr>
          <p:txBody>
            <a:bodyPr lIns="50800" tIns="50800" rIns="50800" bIns="50800" rtlCol="0" anchor="ctr"/>
            <a:lstStyle/>
            <a:p>
              <a:pPr algn="ctr">
                <a:lnSpc>
                  <a:spcPts val="4620"/>
                </a:lnSpc>
              </a:pPr>
              <a:endParaRPr sz="2800">
                <a:latin typeface="Sylfaen" panose="010A0502050306030303" pitchFamily="18" charset="0"/>
              </a:endParaRPr>
            </a:p>
          </p:txBody>
        </p:sp>
      </p:grpSp>
      <p:grpSp>
        <p:nvGrpSpPr>
          <p:cNvPr id="30" name="Group 30"/>
          <p:cNvGrpSpPr/>
          <p:nvPr/>
        </p:nvGrpSpPr>
        <p:grpSpPr>
          <a:xfrm>
            <a:off x="6513622" y="7828256"/>
            <a:ext cx="266380" cy="260254"/>
            <a:chOff x="0" y="0"/>
            <a:chExt cx="831931" cy="812800"/>
          </a:xfrm>
        </p:grpSpPr>
        <p:sp>
          <p:nvSpPr>
            <p:cNvPr id="31" name="Freeform 31"/>
            <p:cNvSpPr/>
            <p:nvPr/>
          </p:nvSpPr>
          <p:spPr>
            <a:xfrm>
              <a:off x="0" y="0"/>
              <a:ext cx="831931" cy="812800"/>
            </a:xfrm>
            <a:custGeom>
              <a:avLst/>
              <a:gdLst/>
              <a:ahLst/>
              <a:cxnLst/>
              <a:rect l="l" t="t" r="r" b="b"/>
              <a:pathLst>
                <a:path w="831931" h="812800">
                  <a:moveTo>
                    <a:pt x="415966" y="0"/>
                  </a:moveTo>
                  <a:cubicBezTo>
                    <a:pt x="186234" y="0"/>
                    <a:pt x="0" y="181951"/>
                    <a:pt x="0" y="406400"/>
                  </a:cubicBezTo>
                  <a:cubicBezTo>
                    <a:pt x="0" y="630849"/>
                    <a:pt x="186234" y="812800"/>
                    <a:pt x="415966" y="812800"/>
                  </a:cubicBezTo>
                  <a:cubicBezTo>
                    <a:pt x="645697" y="812800"/>
                    <a:pt x="831931" y="630849"/>
                    <a:pt x="831931" y="406400"/>
                  </a:cubicBezTo>
                  <a:cubicBezTo>
                    <a:pt x="831931" y="181951"/>
                    <a:pt x="645697" y="0"/>
                    <a:pt x="415966" y="0"/>
                  </a:cubicBezTo>
                  <a:close/>
                </a:path>
              </a:pathLst>
            </a:custGeom>
            <a:solidFill>
              <a:srgbClr val="BC444D"/>
            </a:solidFill>
          </p:spPr>
        </p:sp>
        <p:sp>
          <p:nvSpPr>
            <p:cNvPr id="32" name="TextBox 32"/>
            <p:cNvSpPr txBox="1"/>
            <p:nvPr/>
          </p:nvSpPr>
          <p:spPr>
            <a:xfrm>
              <a:off x="77994" y="19050"/>
              <a:ext cx="675944" cy="717550"/>
            </a:xfrm>
            <a:prstGeom prst="rect">
              <a:avLst/>
            </a:prstGeom>
          </p:spPr>
          <p:txBody>
            <a:bodyPr lIns="50800" tIns="50800" rIns="50800" bIns="50800" rtlCol="0" anchor="ctr"/>
            <a:lstStyle/>
            <a:p>
              <a:pPr algn="ctr">
                <a:lnSpc>
                  <a:spcPts val="2659"/>
                </a:lnSpc>
              </a:pPr>
              <a:endParaRPr sz="2800">
                <a:latin typeface="Sylfaen" panose="010A0502050306030303" pitchFamily="18" charset="0"/>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497831"/>
            <a:ext cx="20082410" cy="11282663"/>
          </a:xfrm>
          <a:custGeom>
            <a:avLst/>
            <a:gdLst/>
            <a:ahLst/>
            <a:cxnLst/>
            <a:rect l="l" t="t" r="r" b="b"/>
            <a:pathLst>
              <a:path w="20082410" h="11282663">
                <a:moveTo>
                  <a:pt x="0" y="0"/>
                </a:moveTo>
                <a:lnTo>
                  <a:pt x="20082410" y="0"/>
                </a:lnTo>
                <a:lnTo>
                  <a:pt x="20082410" y="11282662"/>
                </a:lnTo>
                <a:lnTo>
                  <a:pt x="0" y="11282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rot="-5400000">
            <a:off x="-4466778" y="1555131"/>
            <a:ext cx="13101232" cy="7176738"/>
            <a:chOff x="0" y="0"/>
            <a:chExt cx="3450530" cy="1890170"/>
          </a:xfrm>
        </p:grpSpPr>
        <p:sp>
          <p:nvSpPr>
            <p:cNvPr id="4" name="Freeform 4"/>
            <p:cNvSpPr/>
            <p:nvPr/>
          </p:nvSpPr>
          <p:spPr>
            <a:xfrm>
              <a:off x="0" y="0"/>
              <a:ext cx="3450530" cy="1890170"/>
            </a:xfrm>
            <a:custGeom>
              <a:avLst/>
              <a:gdLst/>
              <a:ahLst/>
              <a:cxnLst/>
              <a:rect l="l" t="t" r="r" b="b"/>
              <a:pathLst>
                <a:path w="3450530" h="1890170">
                  <a:moveTo>
                    <a:pt x="1725265" y="0"/>
                  </a:moveTo>
                  <a:cubicBezTo>
                    <a:pt x="772428" y="0"/>
                    <a:pt x="0" y="423129"/>
                    <a:pt x="0" y="945085"/>
                  </a:cubicBezTo>
                  <a:cubicBezTo>
                    <a:pt x="0" y="1467041"/>
                    <a:pt x="772428" y="1890170"/>
                    <a:pt x="1725265" y="1890170"/>
                  </a:cubicBezTo>
                  <a:cubicBezTo>
                    <a:pt x="2678103" y="1890170"/>
                    <a:pt x="3450530" y="1467041"/>
                    <a:pt x="3450530" y="945085"/>
                  </a:cubicBezTo>
                  <a:cubicBezTo>
                    <a:pt x="3450530" y="423129"/>
                    <a:pt x="2678103" y="0"/>
                    <a:pt x="1725265" y="0"/>
                  </a:cubicBezTo>
                  <a:close/>
                </a:path>
              </a:pathLst>
            </a:custGeom>
            <a:solidFill>
              <a:srgbClr val="FBAC9F"/>
            </a:solidFill>
          </p:spPr>
        </p:sp>
        <p:sp>
          <p:nvSpPr>
            <p:cNvPr id="5" name="TextBox 5"/>
            <p:cNvSpPr txBox="1"/>
            <p:nvPr/>
          </p:nvSpPr>
          <p:spPr>
            <a:xfrm>
              <a:off x="323487" y="120053"/>
              <a:ext cx="2803556" cy="159291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364506" y="1374230"/>
            <a:ext cx="2817303" cy="2817303"/>
          </a:xfrm>
          <a:custGeom>
            <a:avLst/>
            <a:gdLst/>
            <a:ahLst/>
            <a:cxnLst/>
            <a:rect l="l" t="t" r="r" b="b"/>
            <a:pathLst>
              <a:path w="2817303" h="2817303">
                <a:moveTo>
                  <a:pt x="0" y="0"/>
                </a:moveTo>
                <a:lnTo>
                  <a:pt x="2817303" y="0"/>
                </a:lnTo>
                <a:lnTo>
                  <a:pt x="2817303" y="2817303"/>
                </a:lnTo>
                <a:lnTo>
                  <a:pt x="0" y="281730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Freeform 7"/>
          <p:cNvSpPr/>
          <p:nvPr/>
        </p:nvSpPr>
        <p:spPr>
          <a:xfrm flipH="1">
            <a:off x="0" y="2995869"/>
            <a:ext cx="8363619" cy="8363619"/>
          </a:xfrm>
          <a:custGeom>
            <a:avLst/>
            <a:gdLst/>
            <a:ahLst/>
            <a:cxnLst/>
            <a:rect l="l" t="t" r="r" b="b"/>
            <a:pathLst>
              <a:path w="8363619" h="8363619">
                <a:moveTo>
                  <a:pt x="8363619" y="0"/>
                </a:moveTo>
                <a:lnTo>
                  <a:pt x="0" y="0"/>
                </a:lnTo>
                <a:lnTo>
                  <a:pt x="0" y="8363619"/>
                </a:lnTo>
                <a:lnTo>
                  <a:pt x="8363619" y="8363619"/>
                </a:lnTo>
                <a:lnTo>
                  <a:pt x="8363619"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Freeform 8"/>
          <p:cNvSpPr/>
          <p:nvPr/>
        </p:nvSpPr>
        <p:spPr>
          <a:xfrm>
            <a:off x="8530112" y="2782882"/>
            <a:ext cx="8961414" cy="7274055"/>
          </a:xfrm>
          <a:custGeom>
            <a:avLst/>
            <a:gdLst/>
            <a:ahLst/>
            <a:cxnLst/>
            <a:rect l="l" t="t" r="r" b="b"/>
            <a:pathLst>
              <a:path w="8961414" h="7274055">
                <a:moveTo>
                  <a:pt x="0" y="0"/>
                </a:moveTo>
                <a:lnTo>
                  <a:pt x="8961413" y="0"/>
                </a:lnTo>
                <a:lnTo>
                  <a:pt x="8961413" y="7274054"/>
                </a:lnTo>
                <a:lnTo>
                  <a:pt x="0" y="7274054"/>
                </a:lnTo>
                <a:lnTo>
                  <a:pt x="0" y="0"/>
                </a:lnTo>
                <a:close/>
              </a:path>
            </a:pathLst>
          </a:custGeom>
          <a:blipFill>
            <a:blip r:embed="rId8"/>
            <a:stretch>
              <a:fillRect l="-6267" t="-12538" r="-7335" b="-85276"/>
            </a:stretch>
          </a:blipFill>
          <a:ln w="38100" cap="sq">
            <a:solidFill>
              <a:srgbClr val="D14E54"/>
            </a:solidFill>
            <a:prstDash val="solid"/>
            <a:miter/>
          </a:ln>
        </p:spPr>
      </p:sp>
      <p:sp>
        <p:nvSpPr>
          <p:cNvPr id="9" name="TextBox 9"/>
          <p:cNvSpPr txBox="1"/>
          <p:nvPr/>
        </p:nvSpPr>
        <p:spPr>
          <a:xfrm>
            <a:off x="9896222" y="327415"/>
            <a:ext cx="6410578" cy="2188881"/>
          </a:xfrm>
          <a:prstGeom prst="rect">
            <a:avLst/>
          </a:prstGeom>
        </p:spPr>
        <p:txBody>
          <a:bodyPr wrap="square" lIns="0" tIns="0" rIns="0" bIns="0" rtlCol="0" anchor="t">
            <a:spAutoFit/>
          </a:bodyPr>
          <a:lstStyle/>
          <a:p>
            <a:pPr marL="0" lvl="0" indent="0" algn="ctr">
              <a:lnSpc>
                <a:spcPts val="8521"/>
              </a:lnSpc>
              <a:spcBef>
                <a:spcPct val="0"/>
              </a:spcBef>
            </a:pPr>
            <a:r>
              <a:rPr lang="en-US" sz="7963" dirty="0">
                <a:solidFill>
                  <a:srgbClr val="861E1E"/>
                </a:solidFill>
                <a:latin typeface="League Spartan"/>
                <a:ea typeface="League Spartan"/>
                <a:cs typeface="League Spartan"/>
                <a:sym typeface="League Spartan"/>
              </a:rPr>
              <a:t>LITERATURE SURVEY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497831"/>
            <a:ext cx="20082410" cy="11282663"/>
          </a:xfrm>
          <a:custGeom>
            <a:avLst/>
            <a:gdLst/>
            <a:ahLst/>
            <a:cxnLst/>
            <a:rect l="l" t="t" r="r" b="b"/>
            <a:pathLst>
              <a:path w="20082410" h="11282663">
                <a:moveTo>
                  <a:pt x="0" y="0"/>
                </a:moveTo>
                <a:lnTo>
                  <a:pt x="20082410" y="0"/>
                </a:lnTo>
                <a:lnTo>
                  <a:pt x="20082410" y="11282662"/>
                </a:lnTo>
                <a:lnTo>
                  <a:pt x="0" y="11282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a:off x="-653034" y="1693798"/>
            <a:ext cx="7728457" cy="6899404"/>
          </a:xfrm>
          <a:custGeom>
            <a:avLst/>
            <a:gdLst/>
            <a:ahLst/>
            <a:cxnLst/>
            <a:rect l="l" t="t" r="r" b="b"/>
            <a:pathLst>
              <a:path w="7728457" h="6899404">
                <a:moveTo>
                  <a:pt x="7728457" y="0"/>
                </a:moveTo>
                <a:lnTo>
                  <a:pt x="0" y="0"/>
                </a:lnTo>
                <a:lnTo>
                  <a:pt x="0" y="6899404"/>
                </a:lnTo>
                <a:lnTo>
                  <a:pt x="7728457" y="6899404"/>
                </a:lnTo>
                <a:lnTo>
                  <a:pt x="7728457"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4" name="Group 4"/>
          <p:cNvGrpSpPr/>
          <p:nvPr/>
        </p:nvGrpSpPr>
        <p:grpSpPr>
          <a:xfrm rot="-10270014">
            <a:off x="-1945448" y="7417426"/>
            <a:ext cx="10926480" cy="5963198"/>
            <a:chOff x="0" y="0"/>
            <a:chExt cx="5267545" cy="2874797"/>
          </a:xfrm>
        </p:grpSpPr>
        <p:sp>
          <p:nvSpPr>
            <p:cNvPr id="5" name="Freeform 5"/>
            <p:cNvSpPr/>
            <p:nvPr/>
          </p:nvSpPr>
          <p:spPr>
            <a:xfrm>
              <a:off x="0" y="0"/>
              <a:ext cx="5267545" cy="2874797"/>
            </a:xfrm>
            <a:custGeom>
              <a:avLst/>
              <a:gdLst/>
              <a:ahLst/>
              <a:cxnLst/>
              <a:rect l="l" t="t" r="r" b="b"/>
              <a:pathLst>
                <a:path w="5267545" h="2874797">
                  <a:moveTo>
                    <a:pt x="2633773" y="0"/>
                  </a:moveTo>
                  <a:cubicBezTo>
                    <a:pt x="1179180" y="0"/>
                    <a:pt x="0" y="643545"/>
                    <a:pt x="0" y="1437399"/>
                  </a:cubicBezTo>
                  <a:cubicBezTo>
                    <a:pt x="0" y="2231252"/>
                    <a:pt x="1179180" y="2874797"/>
                    <a:pt x="2633773" y="2874797"/>
                  </a:cubicBezTo>
                  <a:cubicBezTo>
                    <a:pt x="4088365" y="2874797"/>
                    <a:pt x="5267545" y="2231252"/>
                    <a:pt x="5267545" y="1437399"/>
                  </a:cubicBezTo>
                  <a:cubicBezTo>
                    <a:pt x="5267545" y="643545"/>
                    <a:pt x="4088365" y="0"/>
                    <a:pt x="2633773" y="0"/>
                  </a:cubicBezTo>
                  <a:close/>
                </a:path>
              </a:pathLst>
            </a:custGeom>
            <a:solidFill>
              <a:srgbClr val="FBAC9F"/>
            </a:solidFill>
          </p:spPr>
        </p:sp>
        <p:sp>
          <p:nvSpPr>
            <p:cNvPr id="6" name="TextBox 6"/>
            <p:cNvSpPr txBox="1"/>
            <p:nvPr/>
          </p:nvSpPr>
          <p:spPr>
            <a:xfrm>
              <a:off x="493832" y="212362"/>
              <a:ext cx="4279880" cy="2392923"/>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rot="1427460">
            <a:off x="4721876" y="6642476"/>
            <a:ext cx="1733097" cy="3441167"/>
          </a:xfrm>
          <a:custGeom>
            <a:avLst/>
            <a:gdLst/>
            <a:ahLst/>
            <a:cxnLst/>
            <a:rect l="l" t="t" r="r" b="b"/>
            <a:pathLst>
              <a:path w="1733097" h="3441167">
                <a:moveTo>
                  <a:pt x="0" y="0"/>
                </a:moveTo>
                <a:lnTo>
                  <a:pt x="1733097" y="0"/>
                </a:lnTo>
                <a:lnTo>
                  <a:pt x="1733097" y="3441167"/>
                </a:lnTo>
                <a:lnTo>
                  <a:pt x="0" y="3441167"/>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Freeform 8"/>
          <p:cNvSpPr/>
          <p:nvPr/>
        </p:nvSpPr>
        <p:spPr>
          <a:xfrm>
            <a:off x="1455129" y="7700471"/>
            <a:ext cx="1511894" cy="1823557"/>
          </a:xfrm>
          <a:custGeom>
            <a:avLst/>
            <a:gdLst/>
            <a:ahLst/>
            <a:cxnLst/>
            <a:rect l="l" t="t" r="r" b="b"/>
            <a:pathLst>
              <a:path w="1511894" h="1823557">
                <a:moveTo>
                  <a:pt x="0" y="0"/>
                </a:moveTo>
                <a:lnTo>
                  <a:pt x="1511895" y="0"/>
                </a:lnTo>
                <a:lnTo>
                  <a:pt x="1511895" y="1823557"/>
                </a:lnTo>
                <a:lnTo>
                  <a:pt x="0" y="1823557"/>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9" name="TextBox 9"/>
          <p:cNvSpPr txBox="1"/>
          <p:nvPr/>
        </p:nvSpPr>
        <p:spPr>
          <a:xfrm>
            <a:off x="8206418" y="1993272"/>
            <a:ext cx="9412516" cy="7950895"/>
          </a:xfrm>
          <a:prstGeom prst="rect">
            <a:avLst/>
          </a:prstGeom>
        </p:spPr>
        <p:txBody>
          <a:bodyPr lIns="0" tIns="0" rIns="0" bIns="0" rtlCol="0" anchor="t">
            <a:spAutoFit/>
          </a:bodyPr>
          <a:lstStyle/>
          <a:p>
            <a:pPr marL="759459" lvl="1" indent="-457200" algn="just">
              <a:lnSpc>
                <a:spcPts val="3107"/>
              </a:lnSpc>
              <a:buFont typeface="Wingdings" panose="05000000000000000000" pitchFamily="2" charset="2"/>
              <a:buChar char="v"/>
            </a:pPr>
            <a:r>
              <a:rPr lang="en-US" sz="2799" spc="16" dirty="0">
                <a:solidFill>
                  <a:srgbClr val="000000"/>
                </a:solidFill>
                <a:latin typeface="Sylfaen" panose="010A0502050306030303" pitchFamily="18" charset="0"/>
                <a:ea typeface="Times New Roman"/>
                <a:cs typeface="Times New Roman"/>
                <a:sym typeface="Times New Roman"/>
              </a:rPr>
              <a:t>The existing system primarily depends on manual monitoring, satellite imaging, and remote sensing technologies, which can detect forest fires only after they have already started, leading to delayed responses.</a:t>
            </a:r>
          </a:p>
          <a:p>
            <a:pPr marL="457200" indent="-457200" algn="just">
              <a:lnSpc>
                <a:spcPts val="3107"/>
              </a:lnSpc>
              <a:buFont typeface="Wingdings" panose="05000000000000000000" pitchFamily="2" charset="2"/>
              <a:buChar char="v"/>
            </a:pPr>
            <a:endParaRPr lang="en-US" sz="2799" spc="16" dirty="0">
              <a:solidFill>
                <a:srgbClr val="000000"/>
              </a:solidFill>
              <a:latin typeface="Sylfaen" panose="010A0502050306030303" pitchFamily="18" charset="0"/>
              <a:ea typeface="Times New Roman"/>
              <a:cs typeface="Times New Roman"/>
              <a:sym typeface="Times New Roman"/>
            </a:endParaRPr>
          </a:p>
          <a:p>
            <a:pPr marL="759459" lvl="1" indent="-457200" algn="just">
              <a:lnSpc>
                <a:spcPts val="3107"/>
              </a:lnSpc>
              <a:buFont typeface="Wingdings" panose="05000000000000000000" pitchFamily="2" charset="2"/>
              <a:buChar char="v"/>
            </a:pPr>
            <a:r>
              <a:rPr lang="en-US" sz="2799" spc="16" dirty="0">
                <a:solidFill>
                  <a:srgbClr val="000000"/>
                </a:solidFill>
                <a:latin typeface="Sylfaen" panose="010A0502050306030303" pitchFamily="18" charset="0"/>
                <a:ea typeface="Times New Roman"/>
                <a:cs typeface="Times New Roman"/>
                <a:sym typeface="Times New Roman"/>
              </a:rPr>
              <a:t>These traditional approaches are time-consuming, costly, and prone to inaccuracies due to factors like cloud cover, low image resolution, and limited data availability, reducing the reliability of early detection efforts.</a:t>
            </a:r>
          </a:p>
          <a:p>
            <a:pPr marL="457200" indent="-457200" algn="just">
              <a:lnSpc>
                <a:spcPts val="3107"/>
              </a:lnSpc>
              <a:buFont typeface="Wingdings" panose="05000000000000000000" pitchFamily="2" charset="2"/>
              <a:buChar char="v"/>
            </a:pPr>
            <a:endParaRPr lang="en-US" sz="2799" spc="16" dirty="0">
              <a:solidFill>
                <a:srgbClr val="000000"/>
              </a:solidFill>
              <a:latin typeface="Sylfaen" panose="010A0502050306030303" pitchFamily="18" charset="0"/>
              <a:ea typeface="Times New Roman"/>
              <a:cs typeface="Times New Roman"/>
              <a:sym typeface="Times New Roman"/>
            </a:endParaRPr>
          </a:p>
          <a:p>
            <a:pPr marL="759459" lvl="1" indent="-457200" algn="just">
              <a:lnSpc>
                <a:spcPts val="3107"/>
              </a:lnSpc>
              <a:buFont typeface="Wingdings" panose="05000000000000000000" pitchFamily="2" charset="2"/>
              <a:buChar char="v"/>
            </a:pPr>
            <a:r>
              <a:rPr lang="en-US" sz="2799" spc="16" dirty="0">
                <a:solidFill>
                  <a:srgbClr val="000000"/>
                </a:solidFill>
                <a:latin typeface="Sylfaen" panose="010A0502050306030303" pitchFamily="18" charset="0"/>
                <a:ea typeface="Times New Roman"/>
                <a:cs typeface="Times New Roman"/>
                <a:sym typeface="Times New Roman"/>
              </a:rPr>
              <a:t>The absence of predictive modeling and automation means that authorities often act reactively rather than proactively, increasing the chances of widespread fire damage and ecological loss.</a:t>
            </a:r>
          </a:p>
          <a:p>
            <a:pPr marL="457200" indent="-457200" algn="just">
              <a:lnSpc>
                <a:spcPts val="3107"/>
              </a:lnSpc>
              <a:buFont typeface="Wingdings" panose="05000000000000000000" pitchFamily="2" charset="2"/>
              <a:buChar char="v"/>
            </a:pPr>
            <a:endParaRPr lang="en-US" sz="2799" spc="16" dirty="0">
              <a:solidFill>
                <a:srgbClr val="000000"/>
              </a:solidFill>
              <a:latin typeface="Sylfaen" panose="010A0502050306030303" pitchFamily="18" charset="0"/>
              <a:ea typeface="Times New Roman"/>
              <a:cs typeface="Times New Roman"/>
              <a:sym typeface="Times New Roman"/>
            </a:endParaRPr>
          </a:p>
          <a:p>
            <a:pPr marL="759459" lvl="1" indent="-457200" algn="just">
              <a:lnSpc>
                <a:spcPts val="3107"/>
              </a:lnSpc>
              <a:buFont typeface="Wingdings" panose="05000000000000000000" pitchFamily="2" charset="2"/>
              <a:buChar char="v"/>
            </a:pPr>
            <a:r>
              <a:rPr lang="en-US" sz="2799" spc="16" dirty="0">
                <a:solidFill>
                  <a:srgbClr val="000000"/>
                </a:solidFill>
                <a:latin typeface="Sylfaen" panose="010A0502050306030303" pitchFamily="18" charset="0"/>
                <a:ea typeface="Times New Roman"/>
                <a:cs typeface="Times New Roman"/>
                <a:sym typeface="Times New Roman"/>
              </a:rPr>
              <a:t>Overall, the current system lacks real-time prediction, machine learning integration, and data-driven decision-making, resulting in delayed preventive measures and inefficient forest fire management.</a:t>
            </a:r>
          </a:p>
          <a:p>
            <a:pPr marL="457200" indent="-457200" algn="just">
              <a:lnSpc>
                <a:spcPts val="3107"/>
              </a:lnSpc>
              <a:buFont typeface="Wingdings" panose="05000000000000000000" pitchFamily="2" charset="2"/>
              <a:buChar char="v"/>
            </a:pPr>
            <a:endParaRPr lang="en-US" sz="2799" spc="16" dirty="0">
              <a:solidFill>
                <a:srgbClr val="000000"/>
              </a:solidFill>
              <a:latin typeface="Sylfaen" panose="010A0502050306030303" pitchFamily="18" charset="0"/>
              <a:ea typeface="Times New Roman"/>
              <a:cs typeface="Times New Roman"/>
              <a:sym typeface="Times New Roman"/>
            </a:endParaRPr>
          </a:p>
        </p:txBody>
      </p:sp>
      <p:sp>
        <p:nvSpPr>
          <p:cNvPr id="10" name="TextBox 10"/>
          <p:cNvSpPr txBox="1"/>
          <p:nvPr/>
        </p:nvSpPr>
        <p:spPr>
          <a:xfrm>
            <a:off x="8206418" y="575904"/>
            <a:ext cx="9624382" cy="1117893"/>
          </a:xfrm>
          <a:prstGeom prst="rect">
            <a:avLst/>
          </a:prstGeom>
        </p:spPr>
        <p:txBody>
          <a:bodyPr wrap="square" lIns="0" tIns="0" rIns="0" bIns="0" rtlCol="0" anchor="t">
            <a:spAutoFit/>
          </a:bodyPr>
          <a:lstStyle/>
          <a:p>
            <a:pPr marL="0" lvl="0" indent="0" algn="l">
              <a:lnSpc>
                <a:spcPts val="8521"/>
              </a:lnSpc>
              <a:spcBef>
                <a:spcPct val="0"/>
              </a:spcBef>
            </a:pPr>
            <a:r>
              <a:rPr lang="en-US" sz="7963" dirty="0">
                <a:solidFill>
                  <a:srgbClr val="861E1E"/>
                </a:solidFill>
                <a:latin typeface="League Spartan"/>
                <a:ea typeface="League Spartan"/>
                <a:cs typeface="League Spartan"/>
                <a:sym typeface="League Spartan"/>
              </a:rPr>
              <a:t>EXISTING SYSTEM</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497831"/>
            <a:ext cx="20082410" cy="11282663"/>
          </a:xfrm>
          <a:custGeom>
            <a:avLst/>
            <a:gdLst/>
            <a:ahLst/>
            <a:cxnLst/>
            <a:rect l="l" t="t" r="r" b="b"/>
            <a:pathLst>
              <a:path w="20082410" h="11282663">
                <a:moveTo>
                  <a:pt x="0" y="0"/>
                </a:moveTo>
                <a:lnTo>
                  <a:pt x="20082410" y="0"/>
                </a:lnTo>
                <a:lnTo>
                  <a:pt x="20082410" y="11282662"/>
                </a:lnTo>
                <a:lnTo>
                  <a:pt x="0" y="11282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0" y="0"/>
            <a:ext cx="4269284" cy="10287000"/>
            <a:chOff x="0" y="0"/>
            <a:chExt cx="1124421" cy="2709333"/>
          </a:xfrm>
        </p:grpSpPr>
        <p:sp>
          <p:nvSpPr>
            <p:cNvPr id="4" name="Freeform 4"/>
            <p:cNvSpPr/>
            <p:nvPr/>
          </p:nvSpPr>
          <p:spPr>
            <a:xfrm>
              <a:off x="0" y="0"/>
              <a:ext cx="1124421" cy="2709333"/>
            </a:xfrm>
            <a:custGeom>
              <a:avLst/>
              <a:gdLst/>
              <a:ahLst/>
              <a:cxnLst/>
              <a:rect l="l" t="t" r="r" b="b"/>
              <a:pathLst>
                <a:path w="1124421" h="2709333">
                  <a:moveTo>
                    <a:pt x="0" y="0"/>
                  </a:moveTo>
                  <a:lnTo>
                    <a:pt x="1124421" y="0"/>
                  </a:lnTo>
                  <a:lnTo>
                    <a:pt x="1124421" y="2709333"/>
                  </a:lnTo>
                  <a:lnTo>
                    <a:pt x="0" y="2709333"/>
                  </a:lnTo>
                  <a:close/>
                </a:path>
              </a:pathLst>
            </a:custGeom>
            <a:solidFill>
              <a:srgbClr val="DC7B78"/>
            </a:solidFill>
          </p:spPr>
        </p:sp>
        <p:sp>
          <p:nvSpPr>
            <p:cNvPr id="5" name="TextBox 5"/>
            <p:cNvSpPr txBox="1"/>
            <p:nvPr/>
          </p:nvSpPr>
          <p:spPr>
            <a:xfrm>
              <a:off x="0" y="-57150"/>
              <a:ext cx="1124421" cy="276648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683663" y="1651653"/>
            <a:ext cx="11575637" cy="6721840"/>
          </a:xfrm>
          <a:prstGeom prst="rect">
            <a:avLst/>
          </a:prstGeom>
        </p:spPr>
        <p:txBody>
          <a:bodyPr lIns="0" tIns="0" rIns="0" bIns="0" rtlCol="0" anchor="t">
            <a:spAutoFit/>
          </a:bodyPr>
          <a:lstStyle/>
          <a:p>
            <a:pPr marL="285750" indent="-285750" algn="just">
              <a:lnSpc>
                <a:spcPts val="3531"/>
              </a:lnSpc>
              <a:buFont typeface="Wingdings" panose="05000000000000000000" pitchFamily="2" charset="2"/>
              <a:buChar char="v"/>
            </a:pPr>
            <a:endParaRPr sz="2800" dirty="0">
              <a:latin typeface="Sylfaen" panose="010A0502050306030303" pitchFamily="18" charset="0"/>
            </a:endParaRPr>
          </a:p>
          <a:p>
            <a:pPr marL="813435" lvl="1" indent="-457200" algn="just">
              <a:lnSpc>
                <a:spcPts val="3531"/>
              </a:lnSpc>
              <a:buFont typeface="Wingdings" panose="05000000000000000000" pitchFamily="2" charset="2"/>
              <a:buChar char="v"/>
            </a:pPr>
            <a:r>
              <a:rPr lang="en-US" sz="2800" dirty="0">
                <a:solidFill>
                  <a:srgbClr val="000000"/>
                </a:solidFill>
                <a:latin typeface="Sylfaen" panose="010A0502050306030303" pitchFamily="18" charset="0"/>
                <a:ea typeface="Times New Roman"/>
                <a:cs typeface="Times New Roman"/>
                <a:sym typeface="Times New Roman"/>
              </a:rPr>
              <a:t>The system uses Machine Learning (Random Forest Classifier) to predict forest fire risk levels based on environmental parameters.</a:t>
            </a:r>
          </a:p>
          <a:p>
            <a:pPr marL="457200" indent="-457200" algn="just">
              <a:lnSpc>
                <a:spcPts val="3531"/>
              </a:lnSpc>
              <a:buFont typeface="Wingdings" panose="05000000000000000000" pitchFamily="2" charset="2"/>
              <a:buChar char="v"/>
            </a:pPr>
            <a:endParaRPr lang="en-US" sz="2800" dirty="0">
              <a:solidFill>
                <a:srgbClr val="000000"/>
              </a:solidFill>
              <a:latin typeface="Sylfaen" panose="010A0502050306030303" pitchFamily="18" charset="0"/>
              <a:ea typeface="Times New Roman"/>
              <a:cs typeface="Times New Roman"/>
              <a:sym typeface="Times New Roman"/>
            </a:endParaRPr>
          </a:p>
          <a:p>
            <a:pPr marL="813435" lvl="1" indent="-457200" algn="just">
              <a:lnSpc>
                <a:spcPts val="3531"/>
              </a:lnSpc>
              <a:buFont typeface="Wingdings" panose="05000000000000000000" pitchFamily="2" charset="2"/>
              <a:buChar char="v"/>
            </a:pPr>
            <a:r>
              <a:rPr lang="en-US" sz="2800" dirty="0">
                <a:solidFill>
                  <a:srgbClr val="000000"/>
                </a:solidFill>
                <a:latin typeface="Sylfaen" panose="010A0502050306030303" pitchFamily="18" charset="0"/>
                <a:ea typeface="Times New Roman"/>
                <a:cs typeface="Times New Roman"/>
                <a:sym typeface="Times New Roman"/>
              </a:rPr>
              <a:t>Key inputs include temperature, humidity, wind speed, rainfall, FFMC, DMC, DC, and ISI values.</a:t>
            </a:r>
          </a:p>
          <a:p>
            <a:pPr marL="457200" indent="-457200" algn="just">
              <a:lnSpc>
                <a:spcPts val="3531"/>
              </a:lnSpc>
              <a:buFont typeface="Wingdings" panose="05000000000000000000" pitchFamily="2" charset="2"/>
              <a:buChar char="v"/>
            </a:pPr>
            <a:endParaRPr lang="en-US" sz="2800" dirty="0">
              <a:solidFill>
                <a:srgbClr val="000000"/>
              </a:solidFill>
              <a:latin typeface="Sylfaen" panose="010A0502050306030303" pitchFamily="18" charset="0"/>
              <a:ea typeface="Times New Roman"/>
              <a:cs typeface="Times New Roman"/>
              <a:sym typeface="Times New Roman"/>
            </a:endParaRPr>
          </a:p>
          <a:p>
            <a:pPr marL="813435" lvl="1" indent="-457200" algn="just">
              <a:lnSpc>
                <a:spcPts val="3531"/>
              </a:lnSpc>
              <a:buFont typeface="Wingdings" panose="05000000000000000000" pitchFamily="2" charset="2"/>
              <a:buChar char="v"/>
            </a:pPr>
            <a:r>
              <a:rPr lang="en-US" sz="2800" dirty="0">
                <a:solidFill>
                  <a:srgbClr val="000000"/>
                </a:solidFill>
                <a:latin typeface="Sylfaen" panose="010A0502050306030303" pitchFamily="18" charset="0"/>
                <a:ea typeface="Times New Roman"/>
                <a:cs typeface="Times New Roman"/>
                <a:sym typeface="Times New Roman"/>
              </a:rPr>
              <a:t>A Flask-based web interface allows users to input data and view real-time fire risk predictions with probability charts.</a:t>
            </a:r>
          </a:p>
          <a:p>
            <a:pPr marL="457200" indent="-457200" algn="just">
              <a:lnSpc>
                <a:spcPts val="3531"/>
              </a:lnSpc>
              <a:buFont typeface="Wingdings" panose="05000000000000000000" pitchFamily="2" charset="2"/>
              <a:buChar char="v"/>
            </a:pPr>
            <a:endParaRPr lang="en-US" sz="2800" dirty="0">
              <a:solidFill>
                <a:srgbClr val="000000"/>
              </a:solidFill>
              <a:latin typeface="Sylfaen" panose="010A0502050306030303" pitchFamily="18" charset="0"/>
              <a:ea typeface="Times New Roman"/>
              <a:cs typeface="Times New Roman"/>
              <a:sym typeface="Times New Roman"/>
            </a:endParaRPr>
          </a:p>
          <a:p>
            <a:pPr marL="813435" lvl="1" indent="-457200" algn="just">
              <a:lnSpc>
                <a:spcPts val="3531"/>
              </a:lnSpc>
              <a:buFont typeface="Wingdings" panose="05000000000000000000" pitchFamily="2" charset="2"/>
              <a:buChar char="v"/>
            </a:pPr>
            <a:r>
              <a:rPr lang="en-US" sz="2800" dirty="0">
                <a:solidFill>
                  <a:srgbClr val="000000"/>
                </a:solidFill>
                <a:latin typeface="Sylfaen" panose="010A0502050306030303" pitchFamily="18" charset="0"/>
                <a:ea typeface="Times New Roman"/>
                <a:cs typeface="Times New Roman"/>
                <a:sym typeface="Times New Roman"/>
              </a:rPr>
              <a:t>The system generates automated PDF reports containing prediction details and visualization results.</a:t>
            </a:r>
          </a:p>
          <a:p>
            <a:pPr marL="457200" indent="-457200" algn="just">
              <a:lnSpc>
                <a:spcPts val="3531"/>
              </a:lnSpc>
              <a:buFont typeface="Wingdings" panose="05000000000000000000" pitchFamily="2" charset="2"/>
              <a:buChar char="v"/>
            </a:pPr>
            <a:endParaRPr lang="en-US" sz="2800" dirty="0">
              <a:solidFill>
                <a:srgbClr val="000000"/>
              </a:solidFill>
              <a:latin typeface="Sylfaen" panose="010A0502050306030303" pitchFamily="18" charset="0"/>
              <a:ea typeface="Times New Roman"/>
              <a:cs typeface="Times New Roman"/>
              <a:sym typeface="Times New Roman"/>
            </a:endParaRPr>
          </a:p>
          <a:p>
            <a:pPr marL="813435" lvl="1" indent="-457200" algn="just">
              <a:lnSpc>
                <a:spcPts val="3531"/>
              </a:lnSpc>
              <a:buFont typeface="Wingdings" panose="05000000000000000000" pitchFamily="2" charset="2"/>
              <a:buChar char="v"/>
            </a:pPr>
            <a:r>
              <a:rPr lang="en-US" sz="2800" dirty="0">
                <a:solidFill>
                  <a:srgbClr val="000000"/>
                </a:solidFill>
                <a:latin typeface="Sylfaen" panose="010A0502050306030303" pitchFamily="18" charset="0"/>
                <a:ea typeface="Times New Roman"/>
                <a:cs typeface="Times New Roman"/>
                <a:sym typeface="Times New Roman"/>
              </a:rPr>
              <a:t>Enhances early warning and decision-making for forest management authorities through data-driven insights.</a:t>
            </a:r>
          </a:p>
        </p:txBody>
      </p:sp>
      <p:sp>
        <p:nvSpPr>
          <p:cNvPr id="7" name="TextBox 7"/>
          <p:cNvSpPr txBox="1"/>
          <p:nvPr/>
        </p:nvSpPr>
        <p:spPr>
          <a:xfrm>
            <a:off x="6267135" y="717244"/>
            <a:ext cx="10408693" cy="1112556"/>
          </a:xfrm>
          <a:prstGeom prst="rect">
            <a:avLst/>
          </a:prstGeom>
        </p:spPr>
        <p:txBody>
          <a:bodyPr lIns="0" tIns="0" rIns="0" bIns="0" rtlCol="0" anchor="t">
            <a:spAutoFit/>
          </a:bodyPr>
          <a:lstStyle/>
          <a:p>
            <a:pPr marL="0" lvl="0" indent="0" algn="ctr">
              <a:lnSpc>
                <a:spcPts val="8521"/>
              </a:lnSpc>
              <a:spcBef>
                <a:spcPct val="0"/>
              </a:spcBef>
            </a:pPr>
            <a:r>
              <a:rPr lang="en-US" sz="7963">
                <a:solidFill>
                  <a:srgbClr val="861E1E"/>
                </a:solidFill>
                <a:latin typeface="League Spartan"/>
                <a:ea typeface="League Spartan"/>
                <a:cs typeface="League Spartan"/>
                <a:sym typeface="League Spartan"/>
              </a:rPr>
              <a:t>PROPOSED SYSTEM</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497831"/>
            <a:ext cx="20082410" cy="11282663"/>
          </a:xfrm>
          <a:custGeom>
            <a:avLst/>
            <a:gdLst/>
            <a:ahLst/>
            <a:cxnLst/>
            <a:rect l="l" t="t" r="r" b="b"/>
            <a:pathLst>
              <a:path w="20082410" h="11282663">
                <a:moveTo>
                  <a:pt x="0" y="0"/>
                </a:moveTo>
                <a:lnTo>
                  <a:pt x="20082410" y="0"/>
                </a:lnTo>
                <a:lnTo>
                  <a:pt x="20082410" y="11282662"/>
                </a:lnTo>
                <a:lnTo>
                  <a:pt x="0" y="11282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0" y="0"/>
            <a:ext cx="4269284" cy="10287000"/>
            <a:chOff x="0" y="0"/>
            <a:chExt cx="1124421" cy="2709333"/>
          </a:xfrm>
        </p:grpSpPr>
        <p:sp>
          <p:nvSpPr>
            <p:cNvPr id="4" name="Freeform 4"/>
            <p:cNvSpPr/>
            <p:nvPr/>
          </p:nvSpPr>
          <p:spPr>
            <a:xfrm>
              <a:off x="0" y="0"/>
              <a:ext cx="1124421" cy="2709333"/>
            </a:xfrm>
            <a:custGeom>
              <a:avLst/>
              <a:gdLst/>
              <a:ahLst/>
              <a:cxnLst/>
              <a:rect l="l" t="t" r="r" b="b"/>
              <a:pathLst>
                <a:path w="1124421" h="2709333">
                  <a:moveTo>
                    <a:pt x="0" y="0"/>
                  </a:moveTo>
                  <a:lnTo>
                    <a:pt x="1124421" y="0"/>
                  </a:lnTo>
                  <a:lnTo>
                    <a:pt x="1124421" y="2709333"/>
                  </a:lnTo>
                  <a:lnTo>
                    <a:pt x="0" y="2709333"/>
                  </a:lnTo>
                  <a:close/>
                </a:path>
              </a:pathLst>
            </a:custGeom>
            <a:solidFill>
              <a:srgbClr val="FF5757"/>
            </a:solidFill>
          </p:spPr>
        </p:sp>
        <p:sp>
          <p:nvSpPr>
            <p:cNvPr id="5" name="TextBox 5"/>
            <p:cNvSpPr txBox="1"/>
            <p:nvPr/>
          </p:nvSpPr>
          <p:spPr>
            <a:xfrm>
              <a:off x="0" y="-57150"/>
              <a:ext cx="1124421" cy="276648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0195719" y="254394"/>
            <a:ext cx="6297507" cy="9778212"/>
          </a:xfrm>
          <a:custGeom>
            <a:avLst/>
            <a:gdLst/>
            <a:ahLst/>
            <a:cxnLst/>
            <a:rect l="l" t="t" r="r" b="b"/>
            <a:pathLst>
              <a:path w="6297507" h="9778212">
                <a:moveTo>
                  <a:pt x="0" y="0"/>
                </a:moveTo>
                <a:lnTo>
                  <a:pt x="6297507" y="0"/>
                </a:lnTo>
                <a:lnTo>
                  <a:pt x="6297507" y="9778212"/>
                </a:lnTo>
                <a:lnTo>
                  <a:pt x="0" y="9778212"/>
                </a:lnTo>
                <a:lnTo>
                  <a:pt x="0" y="0"/>
                </a:lnTo>
                <a:close/>
              </a:path>
            </a:pathLst>
          </a:custGeom>
          <a:blipFill>
            <a:blip r:embed="rId4"/>
            <a:stretch>
              <a:fillRect l="-6955" r="-379"/>
            </a:stretch>
          </a:blipFill>
          <a:ln w="28575" cap="sq">
            <a:solidFill>
              <a:srgbClr val="CB5254"/>
            </a:solidFill>
            <a:prstDash val="solid"/>
            <a:miter/>
          </a:ln>
        </p:spPr>
      </p:sp>
      <p:grpSp>
        <p:nvGrpSpPr>
          <p:cNvPr id="7" name="Group 7"/>
          <p:cNvGrpSpPr/>
          <p:nvPr/>
        </p:nvGrpSpPr>
        <p:grpSpPr>
          <a:xfrm>
            <a:off x="0" y="3090192"/>
            <a:ext cx="9790810" cy="4106616"/>
            <a:chOff x="0" y="0"/>
            <a:chExt cx="742967" cy="311627"/>
          </a:xfrm>
        </p:grpSpPr>
        <p:sp>
          <p:nvSpPr>
            <p:cNvPr id="8" name="Freeform 8"/>
            <p:cNvSpPr/>
            <p:nvPr/>
          </p:nvSpPr>
          <p:spPr>
            <a:xfrm>
              <a:off x="0" y="0"/>
              <a:ext cx="742967" cy="311627"/>
            </a:xfrm>
            <a:custGeom>
              <a:avLst/>
              <a:gdLst/>
              <a:ahLst/>
              <a:cxnLst/>
              <a:rect l="l" t="t" r="r" b="b"/>
              <a:pathLst>
                <a:path w="742967" h="311627">
                  <a:moveTo>
                    <a:pt x="539767" y="0"/>
                  </a:moveTo>
                  <a:lnTo>
                    <a:pt x="0" y="0"/>
                  </a:lnTo>
                  <a:lnTo>
                    <a:pt x="0" y="311627"/>
                  </a:lnTo>
                  <a:lnTo>
                    <a:pt x="539767" y="311627"/>
                  </a:lnTo>
                  <a:lnTo>
                    <a:pt x="742967" y="155814"/>
                  </a:lnTo>
                  <a:lnTo>
                    <a:pt x="539767" y="0"/>
                  </a:lnTo>
                  <a:close/>
                </a:path>
              </a:pathLst>
            </a:custGeom>
            <a:solidFill>
              <a:srgbClr val="EBD2B6"/>
            </a:solidFill>
          </p:spPr>
        </p:sp>
        <p:sp>
          <p:nvSpPr>
            <p:cNvPr id="9" name="TextBox 9"/>
            <p:cNvSpPr txBox="1"/>
            <p:nvPr/>
          </p:nvSpPr>
          <p:spPr>
            <a:xfrm>
              <a:off x="0" y="-57150"/>
              <a:ext cx="628667" cy="368777"/>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264555" y="4308074"/>
            <a:ext cx="8009458" cy="3265206"/>
          </a:xfrm>
          <a:prstGeom prst="rect">
            <a:avLst/>
          </a:prstGeom>
        </p:spPr>
        <p:txBody>
          <a:bodyPr lIns="0" tIns="0" rIns="0" bIns="0" rtlCol="0" anchor="t">
            <a:spAutoFit/>
          </a:bodyPr>
          <a:lstStyle/>
          <a:p>
            <a:pPr algn="ctr">
              <a:lnSpc>
                <a:spcPts val="8521"/>
              </a:lnSpc>
            </a:pPr>
            <a:r>
              <a:rPr lang="en-US" sz="7963">
                <a:solidFill>
                  <a:srgbClr val="861E1E"/>
                </a:solidFill>
                <a:latin typeface="League Spartan"/>
                <a:ea typeface="League Spartan"/>
                <a:cs typeface="League Spartan"/>
                <a:sym typeface="League Spartan"/>
              </a:rPr>
              <a:t>ARCHITECTURE DIAGRAM</a:t>
            </a:r>
          </a:p>
          <a:p>
            <a:pPr marL="0" lvl="0" indent="0" algn="ctr">
              <a:lnSpc>
                <a:spcPts val="8521"/>
              </a:lnSpc>
              <a:spcBef>
                <a:spcPct val="0"/>
              </a:spcBef>
            </a:pPr>
            <a:endParaRPr lang="en-US" sz="7963">
              <a:solidFill>
                <a:srgbClr val="861E1E"/>
              </a:solidFill>
              <a:latin typeface="League Spartan"/>
              <a:ea typeface="League Spartan"/>
              <a:cs typeface="League Spartan"/>
              <a:sym typeface="League Spartan"/>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163255"/>
            <a:ext cx="20082410" cy="11282663"/>
          </a:xfrm>
          <a:custGeom>
            <a:avLst/>
            <a:gdLst/>
            <a:ahLst/>
            <a:cxnLst/>
            <a:rect l="l" t="t" r="r" b="b"/>
            <a:pathLst>
              <a:path w="20082410" h="11282663">
                <a:moveTo>
                  <a:pt x="0" y="0"/>
                </a:moveTo>
                <a:lnTo>
                  <a:pt x="20082410" y="0"/>
                </a:lnTo>
                <a:lnTo>
                  <a:pt x="20082410" y="11282663"/>
                </a:lnTo>
                <a:lnTo>
                  <a:pt x="0" y="1128266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rot="9614987">
            <a:off x="10444384" y="5828525"/>
            <a:ext cx="13810587" cy="7537218"/>
            <a:chOff x="0" y="0"/>
            <a:chExt cx="5267545" cy="2874797"/>
          </a:xfrm>
        </p:grpSpPr>
        <p:sp>
          <p:nvSpPr>
            <p:cNvPr id="4" name="Freeform 4"/>
            <p:cNvSpPr/>
            <p:nvPr/>
          </p:nvSpPr>
          <p:spPr>
            <a:xfrm>
              <a:off x="0" y="0"/>
              <a:ext cx="5267545" cy="2874797"/>
            </a:xfrm>
            <a:custGeom>
              <a:avLst/>
              <a:gdLst/>
              <a:ahLst/>
              <a:cxnLst/>
              <a:rect l="l" t="t" r="r" b="b"/>
              <a:pathLst>
                <a:path w="5267545" h="2874797">
                  <a:moveTo>
                    <a:pt x="2633773" y="0"/>
                  </a:moveTo>
                  <a:cubicBezTo>
                    <a:pt x="1179180" y="0"/>
                    <a:pt x="0" y="643545"/>
                    <a:pt x="0" y="1437399"/>
                  </a:cubicBezTo>
                  <a:cubicBezTo>
                    <a:pt x="0" y="2231252"/>
                    <a:pt x="1179180" y="2874797"/>
                    <a:pt x="2633773" y="2874797"/>
                  </a:cubicBezTo>
                  <a:cubicBezTo>
                    <a:pt x="4088365" y="2874797"/>
                    <a:pt x="5267545" y="2231252"/>
                    <a:pt x="5267545" y="1437399"/>
                  </a:cubicBezTo>
                  <a:cubicBezTo>
                    <a:pt x="5267545" y="643545"/>
                    <a:pt x="4088365" y="0"/>
                    <a:pt x="2633773" y="0"/>
                  </a:cubicBezTo>
                  <a:close/>
                </a:path>
              </a:pathLst>
            </a:custGeom>
            <a:solidFill>
              <a:srgbClr val="FBAC9F"/>
            </a:solidFill>
          </p:spPr>
        </p:sp>
        <p:sp>
          <p:nvSpPr>
            <p:cNvPr id="5" name="TextBox 5"/>
            <p:cNvSpPr txBox="1"/>
            <p:nvPr/>
          </p:nvSpPr>
          <p:spPr>
            <a:xfrm>
              <a:off x="493832" y="212362"/>
              <a:ext cx="4279880" cy="239292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8453280">
            <a:off x="-7802498" y="-5356994"/>
            <a:ext cx="13810587" cy="7537218"/>
            <a:chOff x="0" y="0"/>
            <a:chExt cx="5267545" cy="2874797"/>
          </a:xfrm>
        </p:grpSpPr>
        <p:sp>
          <p:nvSpPr>
            <p:cNvPr id="7" name="Freeform 7"/>
            <p:cNvSpPr/>
            <p:nvPr/>
          </p:nvSpPr>
          <p:spPr>
            <a:xfrm>
              <a:off x="0" y="0"/>
              <a:ext cx="5267545" cy="2874797"/>
            </a:xfrm>
            <a:custGeom>
              <a:avLst/>
              <a:gdLst/>
              <a:ahLst/>
              <a:cxnLst/>
              <a:rect l="l" t="t" r="r" b="b"/>
              <a:pathLst>
                <a:path w="5267545" h="2874797">
                  <a:moveTo>
                    <a:pt x="2633773" y="0"/>
                  </a:moveTo>
                  <a:cubicBezTo>
                    <a:pt x="1179180" y="0"/>
                    <a:pt x="0" y="643545"/>
                    <a:pt x="0" y="1437399"/>
                  </a:cubicBezTo>
                  <a:cubicBezTo>
                    <a:pt x="0" y="2231252"/>
                    <a:pt x="1179180" y="2874797"/>
                    <a:pt x="2633773" y="2874797"/>
                  </a:cubicBezTo>
                  <a:cubicBezTo>
                    <a:pt x="4088365" y="2874797"/>
                    <a:pt x="5267545" y="2231252"/>
                    <a:pt x="5267545" y="1437399"/>
                  </a:cubicBezTo>
                  <a:cubicBezTo>
                    <a:pt x="5267545" y="643545"/>
                    <a:pt x="4088365" y="0"/>
                    <a:pt x="2633773" y="0"/>
                  </a:cubicBezTo>
                  <a:close/>
                </a:path>
              </a:pathLst>
            </a:custGeom>
            <a:solidFill>
              <a:srgbClr val="FBAC9F"/>
            </a:solidFill>
          </p:spPr>
        </p:sp>
        <p:sp>
          <p:nvSpPr>
            <p:cNvPr id="8" name="TextBox 8"/>
            <p:cNvSpPr txBox="1"/>
            <p:nvPr/>
          </p:nvSpPr>
          <p:spPr>
            <a:xfrm>
              <a:off x="493832" y="212362"/>
              <a:ext cx="4279880" cy="2392923"/>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5941419" y="6392267"/>
            <a:ext cx="7271363" cy="3753841"/>
          </a:xfrm>
          <a:custGeom>
            <a:avLst/>
            <a:gdLst/>
            <a:ahLst/>
            <a:cxnLst/>
            <a:rect l="l" t="t" r="r" b="b"/>
            <a:pathLst>
              <a:path w="7271363" h="3753841">
                <a:moveTo>
                  <a:pt x="0" y="0"/>
                </a:moveTo>
                <a:lnTo>
                  <a:pt x="7271363" y="0"/>
                </a:lnTo>
                <a:lnTo>
                  <a:pt x="7271363" y="3753841"/>
                </a:lnTo>
                <a:lnTo>
                  <a:pt x="0" y="3753841"/>
                </a:lnTo>
                <a:lnTo>
                  <a:pt x="0" y="0"/>
                </a:lnTo>
                <a:close/>
              </a:path>
            </a:pathLst>
          </a:custGeom>
          <a:blipFill>
            <a:blip r:embed="rId4"/>
            <a:stretch>
              <a:fillRect/>
            </a:stretch>
          </a:blipFill>
        </p:spPr>
      </p:sp>
      <p:sp>
        <p:nvSpPr>
          <p:cNvPr id="10" name="Freeform 10"/>
          <p:cNvSpPr/>
          <p:nvPr/>
        </p:nvSpPr>
        <p:spPr>
          <a:xfrm>
            <a:off x="601143" y="2311910"/>
            <a:ext cx="7199671" cy="3689832"/>
          </a:xfrm>
          <a:custGeom>
            <a:avLst/>
            <a:gdLst/>
            <a:ahLst/>
            <a:cxnLst/>
            <a:rect l="l" t="t" r="r" b="b"/>
            <a:pathLst>
              <a:path w="7199671" h="3689832">
                <a:moveTo>
                  <a:pt x="0" y="0"/>
                </a:moveTo>
                <a:lnTo>
                  <a:pt x="7199671" y="0"/>
                </a:lnTo>
                <a:lnTo>
                  <a:pt x="7199671" y="3689832"/>
                </a:lnTo>
                <a:lnTo>
                  <a:pt x="0" y="3689832"/>
                </a:lnTo>
                <a:lnTo>
                  <a:pt x="0" y="0"/>
                </a:lnTo>
                <a:close/>
              </a:path>
            </a:pathLst>
          </a:custGeom>
          <a:blipFill>
            <a:blip r:embed="rId5"/>
            <a:stretch>
              <a:fillRect/>
            </a:stretch>
          </a:blipFill>
        </p:spPr>
      </p:sp>
      <p:sp>
        <p:nvSpPr>
          <p:cNvPr id="11" name="Freeform 11"/>
          <p:cNvSpPr/>
          <p:nvPr/>
        </p:nvSpPr>
        <p:spPr>
          <a:xfrm>
            <a:off x="10360050" y="2311910"/>
            <a:ext cx="7247147" cy="3689832"/>
          </a:xfrm>
          <a:custGeom>
            <a:avLst/>
            <a:gdLst/>
            <a:ahLst/>
            <a:cxnLst/>
            <a:rect l="l" t="t" r="r" b="b"/>
            <a:pathLst>
              <a:path w="7247147" h="3689832">
                <a:moveTo>
                  <a:pt x="0" y="0"/>
                </a:moveTo>
                <a:lnTo>
                  <a:pt x="7247147" y="0"/>
                </a:lnTo>
                <a:lnTo>
                  <a:pt x="7247147" y="3689832"/>
                </a:lnTo>
                <a:lnTo>
                  <a:pt x="0" y="3689832"/>
                </a:lnTo>
                <a:lnTo>
                  <a:pt x="0" y="0"/>
                </a:lnTo>
                <a:close/>
              </a:path>
            </a:pathLst>
          </a:custGeom>
          <a:blipFill>
            <a:blip r:embed="rId6"/>
            <a:stretch>
              <a:fillRect l="-3367" r="-3820"/>
            </a:stretch>
          </a:blipFill>
        </p:spPr>
      </p:sp>
      <p:sp>
        <p:nvSpPr>
          <p:cNvPr id="12" name="TextBox 12"/>
          <p:cNvSpPr txBox="1"/>
          <p:nvPr/>
        </p:nvSpPr>
        <p:spPr>
          <a:xfrm>
            <a:off x="3640726" y="517378"/>
            <a:ext cx="11142073" cy="1117893"/>
          </a:xfrm>
          <a:prstGeom prst="rect">
            <a:avLst/>
          </a:prstGeom>
        </p:spPr>
        <p:txBody>
          <a:bodyPr wrap="square" lIns="0" tIns="0" rIns="0" bIns="0" rtlCol="0" anchor="t">
            <a:spAutoFit/>
          </a:bodyPr>
          <a:lstStyle/>
          <a:p>
            <a:pPr marL="0" lvl="0" indent="0" algn="l">
              <a:lnSpc>
                <a:spcPts val="8521"/>
              </a:lnSpc>
              <a:spcBef>
                <a:spcPct val="0"/>
              </a:spcBef>
            </a:pPr>
            <a:r>
              <a:rPr lang="en-US" sz="7963" dirty="0">
                <a:solidFill>
                  <a:srgbClr val="861E1E"/>
                </a:solidFill>
                <a:latin typeface="League Spartan"/>
                <a:ea typeface="League Spartan"/>
                <a:cs typeface="League Spartan"/>
                <a:sym typeface="League Spartan"/>
              </a:rPr>
              <a:t>OUTPUT - FLASK APP</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163255"/>
            <a:ext cx="20082410" cy="11282663"/>
          </a:xfrm>
          <a:custGeom>
            <a:avLst/>
            <a:gdLst/>
            <a:ahLst/>
            <a:cxnLst/>
            <a:rect l="l" t="t" r="r" b="b"/>
            <a:pathLst>
              <a:path w="20082410" h="11282663">
                <a:moveTo>
                  <a:pt x="0" y="0"/>
                </a:moveTo>
                <a:lnTo>
                  <a:pt x="20082410" y="0"/>
                </a:lnTo>
                <a:lnTo>
                  <a:pt x="20082410" y="11282663"/>
                </a:lnTo>
                <a:lnTo>
                  <a:pt x="0" y="1128266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rot="9614987">
            <a:off x="10444384" y="5828525"/>
            <a:ext cx="13810587" cy="7537218"/>
            <a:chOff x="0" y="0"/>
            <a:chExt cx="5267545" cy="2874797"/>
          </a:xfrm>
        </p:grpSpPr>
        <p:sp>
          <p:nvSpPr>
            <p:cNvPr id="4" name="Freeform 4"/>
            <p:cNvSpPr/>
            <p:nvPr/>
          </p:nvSpPr>
          <p:spPr>
            <a:xfrm>
              <a:off x="0" y="0"/>
              <a:ext cx="5267545" cy="2874797"/>
            </a:xfrm>
            <a:custGeom>
              <a:avLst/>
              <a:gdLst/>
              <a:ahLst/>
              <a:cxnLst/>
              <a:rect l="l" t="t" r="r" b="b"/>
              <a:pathLst>
                <a:path w="5267545" h="2874797">
                  <a:moveTo>
                    <a:pt x="2633773" y="0"/>
                  </a:moveTo>
                  <a:cubicBezTo>
                    <a:pt x="1179180" y="0"/>
                    <a:pt x="0" y="643545"/>
                    <a:pt x="0" y="1437399"/>
                  </a:cubicBezTo>
                  <a:cubicBezTo>
                    <a:pt x="0" y="2231252"/>
                    <a:pt x="1179180" y="2874797"/>
                    <a:pt x="2633773" y="2874797"/>
                  </a:cubicBezTo>
                  <a:cubicBezTo>
                    <a:pt x="4088365" y="2874797"/>
                    <a:pt x="5267545" y="2231252"/>
                    <a:pt x="5267545" y="1437399"/>
                  </a:cubicBezTo>
                  <a:cubicBezTo>
                    <a:pt x="5267545" y="643545"/>
                    <a:pt x="4088365" y="0"/>
                    <a:pt x="2633773" y="0"/>
                  </a:cubicBezTo>
                  <a:close/>
                </a:path>
              </a:pathLst>
            </a:custGeom>
            <a:solidFill>
              <a:srgbClr val="FBAC9F"/>
            </a:solidFill>
          </p:spPr>
        </p:sp>
        <p:sp>
          <p:nvSpPr>
            <p:cNvPr id="5" name="TextBox 5"/>
            <p:cNvSpPr txBox="1"/>
            <p:nvPr/>
          </p:nvSpPr>
          <p:spPr>
            <a:xfrm>
              <a:off x="493832" y="212362"/>
              <a:ext cx="4279880" cy="239292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rot="8453280">
            <a:off x="-7802498" y="-5356994"/>
            <a:ext cx="13810587" cy="7537218"/>
            <a:chOff x="0" y="0"/>
            <a:chExt cx="5267545" cy="2874797"/>
          </a:xfrm>
        </p:grpSpPr>
        <p:sp>
          <p:nvSpPr>
            <p:cNvPr id="7" name="Freeform 7"/>
            <p:cNvSpPr/>
            <p:nvPr/>
          </p:nvSpPr>
          <p:spPr>
            <a:xfrm>
              <a:off x="0" y="0"/>
              <a:ext cx="5267545" cy="2874797"/>
            </a:xfrm>
            <a:custGeom>
              <a:avLst/>
              <a:gdLst/>
              <a:ahLst/>
              <a:cxnLst/>
              <a:rect l="l" t="t" r="r" b="b"/>
              <a:pathLst>
                <a:path w="5267545" h="2874797">
                  <a:moveTo>
                    <a:pt x="2633773" y="0"/>
                  </a:moveTo>
                  <a:cubicBezTo>
                    <a:pt x="1179180" y="0"/>
                    <a:pt x="0" y="643545"/>
                    <a:pt x="0" y="1437399"/>
                  </a:cubicBezTo>
                  <a:cubicBezTo>
                    <a:pt x="0" y="2231252"/>
                    <a:pt x="1179180" y="2874797"/>
                    <a:pt x="2633773" y="2874797"/>
                  </a:cubicBezTo>
                  <a:cubicBezTo>
                    <a:pt x="4088365" y="2874797"/>
                    <a:pt x="5267545" y="2231252"/>
                    <a:pt x="5267545" y="1437399"/>
                  </a:cubicBezTo>
                  <a:cubicBezTo>
                    <a:pt x="5267545" y="643545"/>
                    <a:pt x="4088365" y="0"/>
                    <a:pt x="2633773" y="0"/>
                  </a:cubicBezTo>
                  <a:close/>
                </a:path>
              </a:pathLst>
            </a:custGeom>
            <a:solidFill>
              <a:srgbClr val="FBAC9F"/>
            </a:solidFill>
          </p:spPr>
        </p:sp>
        <p:sp>
          <p:nvSpPr>
            <p:cNvPr id="8" name="TextBox 8"/>
            <p:cNvSpPr txBox="1"/>
            <p:nvPr/>
          </p:nvSpPr>
          <p:spPr>
            <a:xfrm>
              <a:off x="493832" y="212362"/>
              <a:ext cx="4279880" cy="2392923"/>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6173724" y="1886652"/>
            <a:ext cx="6806754" cy="8238129"/>
          </a:xfrm>
          <a:custGeom>
            <a:avLst/>
            <a:gdLst/>
            <a:ahLst/>
            <a:cxnLst/>
            <a:rect l="l" t="t" r="r" b="b"/>
            <a:pathLst>
              <a:path w="6806754" h="8238129">
                <a:moveTo>
                  <a:pt x="0" y="0"/>
                </a:moveTo>
                <a:lnTo>
                  <a:pt x="6806754" y="0"/>
                </a:lnTo>
                <a:lnTo>
                  <a:pt x="6806754" y="8238129"/>
                </a:lnTo>
                <a:lnTo>
                  <a:pt x="0" y="8238129"/>
                </a:lnTo>
                <a:lnTo>
                  <a:pt x="0" y="0"/>
                </a:lnTo>
                <a:close/>
              </a:path>
            </a:pathLst>
          </a:custGeom>
          <a:blipFill>
            <a:blip r:embed="rId4"/>
            <a:stretch>
              <a:fillRect/>
            </a:stretch>
          </a:blipFill>
        </p:spPr>
      </p:sp>
      <p:sp>
        <p:nvSpPr>
          <p:cNvPr id="10" name="TextBox 10"/>
          <p:cNvSpPr txBox="1"/>
          <p:nvPr/>
        </p:nvSpPr>
        <p:spPr>
          <a:xfrm>
            <a:off x="2563945" y="768758"/>
            <a:ext cx="14123855" cy="1117893"/>
          </a:xfrm>
          <a:prstGeom prst="rect">
            <a:avLst/>
          </a:prstGeom>
        </p:spPr>
        <p:txBody>
          <a:bodyPr wrap="square" lIns="0" tIns="0" rIns="0" bIns="0" rtlCol="0" anchor="t">
            <a:spAutoFit/>
          </a:bodyPr>
          <a:lstStyle/>
          <a:p>
            <a:pPr marL="0" lvl="0" indent="0" algn="l">
              <a:lnSpc>
                <a:spcPts val="8521"/>
              </a:lnSpc>
              <a:spcBef>
                <a:spcPct val="0"/>
              </a:spcBef>
            </a:pPr>
            <a:r>
              <a:rPr lang="en-US" sz="7963" dirty="0">
                <a:solidFill>
                  <a:srgbClr val="861E1E"/>
                </a:solidFill>
                <a:latin typeface="League Spartan"/>
                <a:ea typeface="League Spartan"/>
                <a:cs typeface="League Spartan"/>
                <a:sym typeface="League Spartan"/>
              </a:rPr>
              <a:t>OUTPUT - PDF GENERATOR</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163255"/>
            <a:ext cx="20082410" cy="11282663"/>
          </a:xfrm>
          <a:custGeom>
            <a:avLst/>
            <a:gdLst/>
            <a:ahLst/>
            <a:cxnLst/>
            <a:rect l="l" t="t" r="r" b="b"/>
            <a:pathLst>
              <a:path w="20082410" h="11282663">
                <a:moveTo>
                  <a:pt x="0" y="0"/>
                </a:moveTo>
                <a:lnTo>
                  <a:pt x="20082410" y="0"/>
                </a:lnTo>
                <a:lnTo>
                  <a:pt x="20082410" y="11282663"/>
                </a:lnTo>
                <a:lnTo>
                  <a:pt x="0" y="1128266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rot="9614987">
            <a:off x="10444384" y="5828525"/>
            <a:ext cx="13810587" cy="7537218"/>
            <a:chOff x="0" y="0"/>
            <a:chExt cx="5267545" cy="2874797"/>
          </a:xfrm>
        </p:grpSpPr>
        <p:sp>
          <p:nvSpPr>
            <p:cNvPr id="4" name="Freeform 4"/>
            <p:cNvSpPr/>
            <p:nvPr/>
          </p:nvSpPr>
          <p:spPr>
            <a:xfrm>
              <a:off x="0" y="0"/>
              <a:ext cx="5267545" cy="2874797"/>
            </a:xfrm>
            <a:custGeom>
              <a:avLst/>
              <a:gdLst/>
              <a:ahLst/>
              <a:cxnLst/>
              <a:rect l="l" t="t" r="r" b="b"/>
              <a:pathLst>
                <a:path w="5267545" h="2874797">
                  <a:moveTo>
                    <a:pt x="2633773" y="0"/>
                  </a:moveTo>
                  <a:cubicBezTo>
                    <a:pt x="1179180" y="0"/>
                    <a:pt x="0" y="643545"/>
                    <a:pt x="0" y="1437399"/>
                  </a:cubicBezTo>
                  <a:cubicBezTo>
                    <a:pt x="0" y="2231252"/>
                    <a:pt x="1179180" y="2874797"/>
                    <a:pt x="2633773" y="2874797"/>
                  </a:cubicBezTo>
                  <a:cubicBezTo>
                    <a:pt x="4088365" y="2874797"/>
                    <a:pt x="5267545" y="2231252"/>
                    <a:pt x="5267545" y="1437399"/>
                  </a:cubicBezTo>
                  <a:cubicBezTo>
                    <a:pt x="5267545" y="643545"/>
                    <a:pt x="4088365" y="0"/>
                    <a:pt x="2633773" y="0"/>
                  </a:cubicBezTo>
                  <a:close/>
                </a:path>
              </a:pathLst>
            </a:custGeom>
            <a:solidFill>
              <a:srgbClr val="FBAC9F"/>
            </a:solidFill>
          </p:spPr>
        </p:sp>
        <p:sp>
          <p:nvSpPr>
            <p:cNvPr id="5" name="TextBox 5"/>
            <p:cNvSpPr txBox="1"/>
            <p:nvPr/>
          </p:nvSpPr>
          <p:spPr>
            <a:xfrm>
              <a:off x="493832" y="212362"/>
              <a:ext cx="4279880" cy="239292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0517797" y="3054856"/>
            <a:ext cx="7770203" cy="7572416"/>
          </a:xfrm>
          <a:custGeom>
            <a:avLst/>
            <a:gdLst/>
            <a:ahLst/>
            <a:cxnLst/>
            <a:rect l="l" t="t" r="r" b="b"/>
            <a:pathLst>
              <a:path w="7770203" h="7572416">
                <a:moveTo>
                  <a:pt x="0" y="0"/>
                </a:moveTo>
                <a:lnTo>
                  <a:pt x="7770203" y="0"/>
                </a:lnTo>
                <a:lnTo>
                  <a:pt x="7770203" y="7572416"/>
                </a:lnTo>
                <a:lnTo>
                  <a:pt x="0" y="757241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TextBox 7"/>
          <p:cNvSpPr txBox="1"/>
          <p:nvPr/>
        </p:nvSpPr>
        <p:spPr>
          <a:xfrm>
            <a:off x="2133600" y="3250151"/>
            <a:ext cx="7831538" cy="6494085"/>
          </a:xfrm>
          <a:prstGeom prst="rect">
            <a:avLst/>
          </a:prstGeom>
        </p:spPr>
        <p:txBody>
          <a:bodyPr lIns="0" tIns="0" rIns="0" bIns="0" rtlCol="0" anchor="t">
            <a:spAutoFit/>
          </a:bodyPr>
          <a:lstStyle/>
          <a:p>
            <a:pPr marL="457200" indent="-457200" algn="just">
              <a:buFont typeface="Wingdings" panose="05000000000000000000" pitchFamily="2" charset="2"/>
              <a:buChar char="ü"/>
            </a:pPr>
            <a:r>
              <a:rPr lang="en-US" sz="2800" b="1" dirty="0">
                <a:latin typeface="Sylfaen" panose="010A0502050306030303" pitchFamily="18" charset="0"/>
              </a:rPr>
              <a:t>Data Collection:</a:t>
            </a:r>
            <a:r>
              <a:rPr lang="en-US" sz="2800" dirty="0">
                <a:latin typeface="Sylfaen" panose="010A0502050306030303" pitchFamily="18" charset="0"/>
              </a:rPr>
              <a:t> Gathers environmental and satellite data for analysis.</a:t>
            </a:r>
          </a:p>
          <a:p>
            <a:pPr marL="457200" indent="-457200" algn="just">
              <a:buFont typeface="Wingdings" panose="05000000000000000000" pitchFamily="2" charset="2"/>
              <a:buChar char="ü"/>
            </a:pPr>
            <a:r>
              <a:rPr lang="en-US" sz="2800" b="1" dirty="0">
                <a:latin typeface="Sylfaen" panose="010A0502050306030303" pitchFamily="18" charset="0"/>
              </a:rPr>
              <a:t>Data Preprocessing:</a:t>
            </a:r>
            <a:r>
              <a:rPr lang="en-US" sz="2800" dirty="0">
                <a:latin typeface="Sylfaen" panose="010A0502050306030303" pitchFamily="18" charset="0"/>
              </a:rPr>
              <a:t> Cleans and standardizes data for consistency.</a:t>
            </a:r>
          </a:p>
          <a:p>
            <a:pPr marL="457200" indent="-457200" algn="just">
              <a:buFont typeface="Wingdings" panose="05000000000000000000" pitchFamily="2" charset="2"/>
              <a:buChar char="ü"/>
            </a:pPr>
            <a:r>
              <a:rPr lang="en-US" sz="2800" b="1" dirty="0">
                <a:latin typeface="Sylfaen" panose="010A0502050306030303" pitchFamily="18" charset="0"/>
              </a:rPr>
              <a:t>Feature Selection:</a:t>
            </a:r>
            <a:r>
              <a:rPr lang="en-US" sz="2800" dirty="0">
                <a:latin typeface="Sylfaen" panose="010A0502050306030303" pitchFamily="18" charset="0"/>
              </a:rPr>
              <a:t> Identifies key parameters influencing fire risk.</a:t>
            </a:r>
          </a:p>
          <a:p>
            <a:pPr marL="457200" indent="-457200" algn="just">
              <a:buFont typeface="Wingdings" panose="05000000000000000000" pitchFamily="2" charset="2"/>
              <a:buChar char="ü"/>
            </a:pPr>
            <a:r>
              <a:rPr lang="en-US" sz="2800" b="1" dirty="0">
                <a:latin typeface="Sylfaen" panose="010A0502050306030303" pitchFamily="18" charset="0"/>
              </a:rPr>
              <a:t>Model Training:</a:t>
            </a:r>
            <a:r>
              <a:rPr lang="en-US" sz="2800" dirty="0">
                <a:latin typeface="Sylfaen" panose="010A0502050306030303" pitchFamily="18" charset="0"/>
              </a:rPr>
              <a:t> Trains Random Forest Classifier for risk prediction.</a:t>
            </a:r>
          </a:p>
          <a:p>
            <a:pPr marL="457200" indent="-457200" algn="just">
              <a:buFont typeface="Wingdings" panose="05000000000000000000" pitchFamily="2" charset="2"/>
              <a:buChar char="ü"/>
            </a:pPr>
            <a:r>
              <a:rPr lang="en-US" sz="2800" b="1" dirty="0">
                <a:latin typeface="Sylfaen" panose="010A0502050306030303" pitchFamily="18" charset="0"/>
              </a:rPr>
              <a:t>Prediction Module:</a:t>
            </a:r>
            <a:r>
              <a:rPr lang="en-US" sz="2800" dirty="0">
                <a:latin typeface="Sylfaen" panose="010A0502050306030303" pitchFamily="18" charset="0"/>
              </a:rPr>
              <a:t> Classifies areas into </a:t>
            </a:r>
            <a:r>
              <a:rPr lang="en-US" sz="2800" i="1" dirty="0">
                <a:latin typeface="Sylfaen" panose="010A0502050306030303" pitchFamily="18" charset="0"/>
              </a:rPr>
              <a:t>High</a:t>
            </a:r>
            <a:r>
              <a:rPr lang="en-US" sz="2800" dirty="0">
                <a:latin typeface="Sylfaen" panose="010A0502050306030303" pitchFamily="18" charset="0"/>
              </a:rPr>
              <a:t> or </a:t>
            </a:r>
            <a:r>
              <a:rPr lang="en-US" sz="2800" i="1" dirty="0">
                <a:latin typeface="Sylfaen" panose="010A0502050306030303" pitchFamily="18" charset="0"/>
              </a:rPr>
              <a:t>Low</a:t>
            </a:r>
            <a:r>
              <a:rPr lang="en-US" sz="2800" dirty="0">
                <a:latin typeface="Sylfaen" panose="010A0502050306030303" pitchFamily="18" charset="0"/>
              </a:rPr>
              <a:t> fire risk.</a:t>
            </a:r>
          </a:p>
          <a:p>
            <a:pPr marL="457200" indent="-457200" algn="just">
              <a:buFont typeface="Wingdings" panose="05000000000000000000" pitchFamily="2" charset="2"/>
              <a:buChar char="ü"/>
            </a:pPr>
            <a:r>
              <a:rPr lang="en-US" sz="2800" b="1" dirty="0">
                <a:latin typeface="Sylfaen" panose="010A0502050306030303" pitchFamily="18" charset="0"/>
              </a:rPr>
              <a:t>User Interface:</a:t>
            </a:r>
            <a:r>
              <a:rPr lang="en-US" sz="2800" dirty="0">
                <a:latin typeface="Sylfaen" panose="010A0502050306030303" pitchFamily="18" charset="0"/>
              </a:rPr>
              <a:t> Flask-based web app for real-time user interaction.</a:t>
            </a:r>
          </a:p>
          <a:p>
            <a:pPr marL="457200" indent="-457200" algn="just">
              <a:buFont typeface="Wingdings" panose="05000000000000000000" pitchFamily="2" charset="2"/>
              <a:buChar char="ü"/>
            </a:pPr>
            <a:r>
              <a:rPr lang="en-US" sz="2800" b="1" dirty="0">
                <a:latin typeface="Sylfaen" panose="010A0502050306030303" pitchFamily="18" charset="0"/>
              </a:rPr>
              <a:t>Visualization &amp; Reporting:</a:t>
            </a:r>
            <a:r>
              <a:rPr lang="en-US" sz="2800" dirty="0">
                <a:latin typeface="Sylfaen" panose="010A0502050306030303" pitchFamily="18" charset="0"/>
              </a:rPr>
              <a:t> Displays insights and generates detailed reports.</a:t>
            </a:r>
          </a:p>
          <a:p>
            <a:pPr marL="457200" lvl="0" indent="-457200" algn="just">
              <a:lnSpc>
                <a:spcPts val="3560"/>
              </a:lnSpc>
              <a:spcBef>
                <a:spcPct val="0"/>
              </a:spcBef>
              <a:buFont typeface="Wingdings" panose="05000000000000000000" pitchFamily="2" charset="2"/>
              <a:buChar char="ü"/>
            </a:pPr>
            <a:endParaRPr lang="en-US" sz="2800" u="none" strike="noStrike" dirty="0">
              <a:solidFill>
                <a:srgbClr val="000000"/>
              </a:solidFill>
              <a:latin typeface="Sylfaen" panose="010A0502050306030303" pitchFamily="18" charset="0"/>
              <a:ea typeface="Times New Roman"/>
              <a:cs typeface="Times New Roman"/>
              <a:sym typeface="Times New Roman"/>
            </a:endParaRPr>
          </a:p>
        </p:txBody>
      </p:sp>
      <p:grpSp>
        <p:nvGrpSpPr>
          <p:cNvPr id="8" name="Group 8"/>
          <p:cNvGrpSpPr/>
          <p:nvPr/>
        </p:nvGrpSpPr>
        <p:grpSpPr>
          <a:xfrm rot="8453280">
            <a:off x="-7802498" y="-5356994"/>
            <a:ext cx="13810587" cy="7537218"/>
            <a:chOff x="0" y="0"/>
            <a:chExt cx="5267545" cy="2874797"/>
          </a:xfrm>
        </p:grpSpPr>
        <p:sp>
          <p:nvSpPr>
            <p:cNvPr id="9" name="Freeform 9"/>
            <p:cNvSpPr/>
            <p:nvPr/>
          </p:nvSpPr>
          <p:spPr>
            <a:xfrm>
              <a:off x="0" y="0"/>
              <a:ext cx="5267545" cy="2874797"/>
            </a:xfrm>
            <a:custGeom>
              <a:avLst/>
              <a:gdLst/>
              <a:ahLst/>
              <a:cxnLst/>
              <a:rect l="l" t="t" r="r" b="b"/>
              <a:pathLst>
                <a:path w="5267545" h="2874797">
                  <a:moveTo>
                    <a:pt x="2633773" y="0"/>
                  </a:moveTo>
                  <a:cubicBezTo>
                    <a:pt x="1179180" y="0"/>
                    <a:pt x="0" y="643545"/>
                    <a:pt x="0" y="1437399"/>
                  </a:cubicBezTo>
                  <a:cubicBezTo>
                    <a:pt x="0" y="2231252"/>
                    <a:pt x="1179180" y="2874797"/>
                    <a:pt x="2633773" y="2874797"/>
                  </a:cubicBezTo>
                  <a:cubicBezTo>
                    <a:pt x="4088365" y="2874797"/>
                    <a:pt x="5267545" y="2231252"/>
                    <a:pt x="5267545" y="1437399"/>
                  </a:cubicBezTo>
                  <a:cubicBezTo>
                    <a:pt x="5267545" y="643545"/>
                    <a:pt x="4088365" y="0"/>
                    <a:pt x="2633773" y="0"/>
                  </a:cubicBezTo>
                  <a:close/>
                </a:path>
              </a:pathLst>
            </a:custGeom>
            <a:solidFill>
              <a:srgbClr val="FBAC9F"/>
            </a:solidFill>
          </p:spPr>
        </p:sp>
        <p:sp>
          <p:nvSpPr>
            <p:cNvPr id="10" name="TextBox 10"/>
            <p:cNvSpPr txBox="1"/>
            <p:nvPr/>
          </p:nvSpPr>
          <p:spPr>
            <a:xfrm>
              <a:off x="493832" y="212362"/>
              <a:ext cx="4279880" cy="2392923"/>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2133600" y="815093"/>
            <a:ext cx="10340106" cy="2199556"/>
          </a:xfrm>
          <a:prstGeom prst="rect">
            <a:avLst/>
          </a:prstGeom>
        </p:spPr>
        <p:txBody>
          <a:bodyPr wrap="square" lIns="0" tIns="0" rIns="0" bIns="0" rtlCol="0" anchor="t">
            <a:spAutoFit/>
          </a:bodyPr>
          <a:lstStyle/>
          <a:p>
            <a:pPr marL="0" lvl="0" indent="0" algn="l">
              <a:lnSpc>
                <a:spcPts val="8521"/>
              </a:lnSpc>
              <a:spcBef>
                <a:spcPct val="0"/>
              </a:spcBef>
            </a:pPr>
            <a:r>
              <a:rPr lang="en-US" sz="7963" dirty="0">
                <a:solidFill>
                  <a:srgbClr val="861E1E"/>
                </a:solidFill>
                <a:latin typeface="League Spartan"/>
                <a:ea typeface="League Spartan"/>
                <a:cs typeface="League Spartan"/>
                <a:sym typeface="League Spartan"/>
              </a:rPr>
              <a:t>LIST OF MODULES WITH DESCRIPTION</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497831"/>
            <a:ext cx="20082410" cy="11282663"/>
          </a:xfrm>
          <a:custGeom>
            <a:avLst/>
            <a:gdLst/>
            <a:ahLst/>
            <a:cxnLst/>
            <a:rect l="l" t="t" r="r" b="b"/>
            <a:pathLst>
              <a:path w="20082410" h="11282663">
                <a:moveTo>
                  <a:pt x="0" y="0"/>
                </a:moveTo>
                <a:lnTo>
                  <a:pt x="20082410" y="0"/>
                </a:lnTo>
                <a:lnTo>
                  <a:pt x="20082410" y="11282662"/>
                </a:lnTo>
                <a:lnTo>
                  <a:pt x="0" y="11282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rot="-10800000">
            <a:off x="-700715" y="8194416"/>
            <a:ext cx="19689430" cy="6280199"/>
            <a:chOff x="0" y="0"/>
            <a:chExt cx="9012949" cy="2874797"/>
          </a:xfrm>
        </p:grpSpPr>
        <p:sp>
          <p:nvSpPr>
            <p:cNvPr id="4" name="Freeform 4"/>
            <p:cNvSpPr/>
            <p:nvPr/>
          </p:nvSpPr>
          <p:spPr>
            <a:xfrm>
              <a:off x="0" y="0"/>
              <a:ext cx="9012950" cy="2874797"/>
            </a:xfrm>
            <a:custGeom>
              <a:avLst/>
              <a:gdLst/>
              <a:ahLst/>
              <a:cxnLst/>
              <a:rect l="l" t="t" r="r" b="b"/>
              <a:pathLst>
                <a:path w="9012950" h="2874797">
                  <a:moveTo>
                    <a:pt x="4506475" y="0"/>
                  </a:moveTo>
                  <a:cubicBezTo>
                    <a:pt x="2017618" y="0"/>
                    <a:pt x="0" y="643545"/>
                    <a:pt x="0" y="1437399"/>
                  </a:cubicBezTo>
                  <a:cubicBezTo>
                    <a:pt x="0" y="2231252"/>
                    <a:pt x="2017618" y="2874797"/>
                    <a:pt x="4506475" y="2874797"/>
                  </a:cubicBezTo>
                  <a:cubicBezTo>
                    <a:pt x="6995332" y="2874797"/>
                    <a:pt x="9012950" y="2231252"/>
                    <a:pt x="9012950" y="1437399"/>
                  </a:cubicBezTo>
                  <a:cubicBezTo>
                    <a:pt x="9012950" y="643545"/>
                    <a:pt x="6995332" y="0"/>
                    <a:pt x="4506475" y="0"/>
                  </a:cubicBezTo>
                  <a:close/>
                </a:path>
              </a:pathLst>
            </a:custGeom>
            <a:solidFill>
              <a:srgbClr val="FBAC9F"/>
            </a:solidFill>
          </p:spPr>
        </p:sp>
        <p:sp>
          <p:nvSpPr>
            <p:cNvPr id="5" name="TextBox 5"/>
            <p:cNvSpPr txBox="1"/>
            <p:nvPr/>
          </p:nvSpPr>
          <p:spPr>
            <a:xfrm>
              <a:off x="844964" y="212362"/>
              <a:ext cx="7323021" cy="2392923"/>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8402453" y="3778711"/>
            <a:ext cx="8856847" cy="478856"/>
          </a:xfrm>
          <a:prstGeom prst="rect">
            <a:avLst/>
          </a:prstGeom>
        </p:spPr>
        <p:txBody>
          <a:bodyPr lIns="0" tIns="0" rIns="0" bIns="0" rtlCol="0" anchor="t">
            <a:spAutoFit/>
          </a:bodyPr>
          <a:lstStyle/>
          <a:p>
            <a:pPr marL="0" lvl="0" indent="0" algn="just">
              <a:lnSpc>
                <a:spcPts val="3560"/>
              </a:lnSpc>
              <a:spcBef>
                <a:spcPct val="0"/>
              </a:spcBef>
            </a:pPr>
            <a:endParaRPr/>
          </a:p>
        </p:txBody>
      </p:sp>
      <p:sp>
        <p:nvSpPr>
          <p:cNvPr id="7" name="TextBox 7"/>
          <p:cNvSpPr txBox="1"/>
          <p:nvPr/>
        </p:nvSpPr>
        <p:spPr>
          <a:xfrm>
            <a:off x="3669717" y="1797483"/>
            <a:ext cx="13473114" cy="5027017"/>
          </a:xfrm>
          <a:prstGeom prst="rect">
            <a:avLst/>
          </a:prstGeom>
        </p:spPr>
        <p:txBody>
          <a:bodyPr wrap="square" lIns="0" tIns="0" rIns="0" bIns="0" rtlCol="0" anchor="t">
            <a:spAutoFit/>
          </a:bodyPr>
          <a:lstStyle/>
          <a:p>
            <a:pPr algn="just">
              <a:lnSpc>
                <a:spcPts val="4891"/>
              </a:lnSpc>
              <a:spcBef>
                <a:spcPct val="0"/>
              </a:spcBef>
            </a:pPr>
            <a:r>
              <a:rPr lang="en-US" sz="2800" dirty="0">
                <a:solidFill>
                  <a:srgbClr val="000000"/>
                </a:solidFill>
                <a:latin typeface="Sylfaen" panose="010A0502050306030303" pitchFamily="18" charset="0"/>
                <a:ea typeface="Times New Roman"/>
                <a:cs typeface="Times New Roman"/>
                <a:sym typeface="Times New Roman"/>
              </a:rPr>
              <a:t>The Forest Fire Risk Prediction System effectively demonstrates how machine learning can be leveraged to predict and mitigate natural disasters. By analyzing key meteorological and environmental parameters, the system accurately classifies forest fire risk levels, enabling early detection and preventive action. The integration of a user-friendly Flask interface, visual analytics, and automated reporting enhances decision-making for forest authorities and environmental agencies. This project not only supports proactive forest management but also contributes to safeguarding ecosystems, reducing economic losses, and promoting environmental sustainability through intelligent data-driven insights.</a:t>
            </a:r>
          </a:p>
        </p:txBody>
      </p:sp>
      <p:grpSp>
        <p:nvGrpSpPr>
          <p:cNvPr id="8" name="Group 8"/>
          <p:cNvGrpSpPr/>
          <p:nvPr/>
        </p:nvGrpSpPr>
        <p:grpSpPr>
          <a:xfrm>
            <a:off x="-2200374" y="0"/>
            <a:ext cx="4400749" cy="10170443"/>
            <a:chOff x="0" y="0"/>
            <a:chExt cx="1159045" cy="2678635"/>
          </a:xfrm>
        </p:grpSpPr>
        <p:sp>
          <p:nvSpPr>
            <p:cNvPr id="9" name="Freeform 9"/>
            <p:cNvSpPr/>
            <p:nvPr/>
          </p:nvSpPr>
          <p:spPr>
            <a:xfrm>
              <a:off x="0" y="0"/>
              <a:ext cx="1159045" cy="2678635"/>
            </a:xfrm>
            <a:custGeom>
              <a:avLst/>
              <a:gdLst/>
              <a:ahLst/>
              <a:cxnLst/>
              <a:rect l="l" t="t" r="r" b="b"/>
              <a:pathLst>
                <a:path w="1159045" h="2678635">
                  <a:moveTo>
                    <a:pt x="579523" y="0"/>
                  </a:moveTo>
                  <a:cubicBezTo>
                    <a:pt x="259461" y="0"/>
                    <a:pt x="0" y="599633"/>
                    <a:pt x="0" y="1339318"/>
                  </a:cubicBezTo>
                  <a:cubicBezTo>
                    <a:pt x="0" y="2079002"/>
                    <a:pt x="259461" y="2678635"/>
                    <a:pt x="579523" y="2678635"/>
                  </a:cubicBezTo>
                  <a:cubicBezTo>
                    <a:pt x="899584" y="2678635"/>
                    <a:pt x="1159045" y="2079002"/>
                    <a:pt x="1159045" y="1339318"/>
                  </a:cubicBezTo>
                  <a:cubicBezTo>
                    <a:pt x="1159045" y="599633"/>
                    <a:pt x="899584" y="0"/>
                    <a:pt x="579523" y="0"/>
                  </a:cubicBezTo>
                  <a:close/>
                </a:path>
              </a:pathLst>
            </a:custGeom>
            <a:solidFill>
              <a:srgbClr val="FBAC9F"/>
            </a:solidFill>
          </p:spPr>
        </p:sp>
        <p:sp>
          <p:nvSpPr>
            <p:cNvPr id="10" name="TextBox 10"/>
            <p:cNvSpPr txBox="1"/>
            <p:nvPr/>
          </p:nvSpPr>
          <p:spPr>
            <a:xfrm>
              <a:off x="108660" y="193972"/>
              <a:ext cx="941724" cy="2233541"/>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512938" y="520047"/>
            <a:ext cx="7364861" cy="1112556"/>
          </a:xfrm>
          <a:prstGeom prst="rect">
            <a:avLst/>
          </a:prstGeom>
        </p:spPr>
        <p:txBody>
          <a:bodyPr wrap="square" lIns="0" tIns="0" rIns="0" bIns="0" rtlCol="0" anchor="t">
            <a:spAutoFit/>
          </a:bodyPr>
          <a:lstStyle/>
          <a:p>
            <a:pPr marL="0" lvl="0" indent="0" algn="l">
              <a:lnSpc>
                <a:spcPts val="8521"/>
              </a:lnSpc>
              <a:spcBef>
                <a:spcPct val="0"/>
              </a:spcBef>
            </a:pPr>
            <a:r>
              <a:rPr lang="en-US" sz="7963" b="1" u="none" strike="noStrike" dirty="0">
                <a:solidFill>
                  <a:srgbClr val="861E1E"/>
                </a:solidFill>
                <a:latin typeface="League Spartan"/>
                <a:ea typeface="League Spartan"/>
                <a:cs typeface="League Spartan"/>
                <a:sym typeface="League Spartan"/>
              </a:rPr>
              <a:t>CONCLUSION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497831"/>
            <a:ext cx="20082410" cy="11282663"/>
          </a:xfrm>
          <a:custGeom>
            <a:avLst/>
            <a:gdLst/>
            <a:ahLst/>
            <a:cxnLst/>
            <a:rect l="l" t="t" r="r" b="b"/>
            <a:pathLst>
              <a:path w="20082410" h="11282663">
                <a:moveTo>
                  <a:pt x="0" y="0"/>
                </a:moveTo>
                <a:lnTo>
                  <a:pt x="20082410" y="0"/>
                </a:lnTo>
                <a:lnTo>
                  <a:pt x="20082410" y="11282662"/>
                </a:lnTo>
                <a:lnTo>
                  <a:pt x="0" y="11282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rot="-10800000">
            <a:off x="-700715" y="8194416"/>
            <a:ext cx="19689430" cy="6280199"/>
            <a:chOff x="0" y="0"/>
            <a:chExt cx="9012949" cy="2874797"/>
          </a:xfrm>
        </p:grpSpPr>
        <p:sp>
          <p:nvSpPr>
            <p:cNvPr id="4" name="Freeform 4"/>
            <p:cNvSpPr/>
            <p:nvPr/>
          </p:nvSpPr>
          <p:spPr>
            <a:xfrm>
              <a:off x="0" y="0"/>
              <a:ext cx="9012950" cy="2874797"/>
            </a:xfrm>
            <a:custGeom>
              <a:avLst/>
              <a:gdLst/>
              <a:ahLst/>
              <a:cxnLst/>
              <a:rect l="l" t="t" r="r" b="b"/>
              <a:pathLst>
                <a:path w="9012950" h="2874797">
                  <a:moveTo>
                    <a:pt x="4506475" y="0"/>
                  </a:moveTo>
                  <a:cubicBezTo>
                    <a:pt x="2017618" y="0"/>
                    <a:pt x="0" y="643545"/>
                    <a:pt x="0" y="1437399"/>
                  </a:cubicBezTo>
                  <a:cubicBezTo>
                    <a:pt x="0" y="2231252"/>
                    <a:pt x="2017618" y="2874797"/>
                    <a:pt x="4506475" y="2874797"/>
                  </a:cubicBezTo>
                  <a:cubicBezTo>
                    <a:pt x="6995332" y="2874797"/>
                    <a:pt x="9012950" y="2231252"/>
                    <a:pt x="9012950" y="1437399"/>
                  </a:cubicBezTo>
                  <a:cubicBezTo>
                    <a:pt x="9012950" y="643545"/>
                    <a:pt x="6995332" y="0"/>
                    <a:pt x="4506475" y="0"/>
                  </a:cubicBezTo>
                  <a:close/>
                </a:path>
              </a:pathLst>
            </a:custGeom>
            <a:solidFill>
              <a:srgbClr val="FBAC9F"/>
            </a:solidFill>
          </p:spPr>
        </p:sp>
        <p:sp>
          <p:nvSpPr>
            <p:cNvPr id="5" name="TextBox 5"/>
            <p:cNvSpPr txBox="1"/>
            <p:nvPr/>
          </p:nvSpPr>
          <p:spPr>
            <a:xfrm>
              <a:off x="844964" y="212362"/>
              <a:ext cx="7323021" cy="239292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344414" y="1028700"/>
            <a:ext cx="3891295" cy="2391378"/>
          </a:xfrm>
          <a:custGeom>
            <a:avLst/>
            <a:gdLst/>
            <a:ahLst/>
            <a:cxnLst/>
            <a:rect l="l" t="t" r="r" b="b"/>
            <a:pathLst>
              <a:path w="3891295" h="2391378">
                <a:moveTo>
                  <a:pt x="0" y="0"/>
                </a:moveTo>
                <a:lnTo>
                  <a:pt x="3891295" y="0"/>
                </a:lnTo>
                <a:lnTo>
                  <a:pt x="3891295" y="2391378"/>
                </a:lnTo>
                <a:lnTo>
                  <a:pt x="0" y="239137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TextBox 7"/>
          <p:cNvSpPr txBox="1"/>
          <p:nvPr/>
        </p:nvSpPr>
        <p:spPr>
          <a:xfrm>
            <a:off x="8402453" y="3778711"/>
            <a:ext cx="8856847" cy="478856"/>
          </a:xfrm>
          <a:prstGeom prst="rect">
            <a:avLst/>
          </a:prstGeom>
        </p:spPr>
        <p:txBody>
          <a:bodyPr lIns="0" tIns="0" rIns="0" bIns="0" rtlCol="0" anchor="t">
            <a:spAutoFit/>
          </a:bodyPr>
          <a:lstStyle/>
          <a:p>
            <a:pPr marL="0" lvl="0" indent="0" algn="just">
              <a:lnSpc>
                <a:spcPts val="3560"/>
              </a:lnSpc>
              <a:spcBef>
                <a:spcPct val="0"/>
              </a:spcBef>
            </a:pPr>
            <a:endParaRPr/>
          </a:p>
        </p:txBody>
      </p:sp>
      <p:sp>
        <p:nvSpPr>
          <p:cNvPr id="8" name="TextBox 8"/>
          <p:cNvSpPr txBox="1"/>
          <p:nvPr/>
        </p:nvSpPr>
        <p:spPr>
          <a:xfrm>
            <a:off x="6784148" y="522017"/>
            <a:ext cx="6801995" cy="1112556"/>
          </a:xfrm>
          <a:prstGeom prst="rect">
            <a:avLst/>
          </a:prstGeom>
        </p:spPr>
        <p:txBody>
          <a:bodyPr lIns="0" tIns="0" rIns="0" bIns="0" rtlCol="0" anchor="t">
            <a:spAutoFit/>
          </a:bodyPr>
          <a:lstStyle/>
          <a:p>
            <a:pPr marL="0" lvl="0" indent="0" algn="l">
              <a:lnSpc>
                <a:spcPts val="8521"/>
              </a:lnSpc>
              <a:spcBef>
                <a:spcPct val="0"/>
              </a:spcBef>
            </a:pPr>
            <a:r>
              <a:rPr lang="en-US" sz="7963">
                <a:solidFill>
                  <a:srgbClr val="861E1E"/>
                </a:solidFill>
                <a:latin typeface="League Spartan"/>
                <a:ea typeface="League Spartan"/>
                <a:cs typeface="League Spartan"/>
                <a:sym typeface="League Spartan"/>
              </a:rPr>
              <a:t>REFERENCES</a:t>
            </a:r>
          </a:p>
        </p:txBody>
      </p:sp>
      <p:sp>
        <p:nvSpPr>
          <p:cNvPr id="9" name="TextBox 9"/>
          <p:cNvSpPr txBox="1"/>
          <p:nvPr/>
        </p:nvSpPr>
        <p:spPr>
          <a:xfrm>
            <a:off x="3743370" y="1796498"/>
            <a:ext cx="13727974" cy="6283771"/>
          </a:xfrm>
          <a:prstGeom prst="rect">
            <a:avLst/>
          </a:prstGeom>
        </p:spPr>
        <p:txBody>
          <a:bodyPr wrap="square" lIns="0" tIns="0" rIns="0" bIns="0" rtlCol="0" anchor="t">
            <a:spAutoFit/>
          </a:bodyPr>
          <a:lstStyle/>
          <a:p>
            <a:pPr marL="571500" indent="-571500" algn="just">
              <a:lnSpc>
                <a:spcPts val="4891"/>
              </a:lnSpc>
              <a:spcBef>
                <a:spcPct val="0"/>
              </a:spcBef>
              <a:buFont typeface="+mj-lt"/>
              <a:buAutoNum type="romanUcPeriod"/>
            </a:pPr>
            <a:r>
              <a:rPr lang="en-US" sz="2800" dirty="0" smtClean="0">
                <a:solidFill>
                  <a:srgbClr val="000000"/>
                </a:solidFill>
                <a:latin typeface="Sylfaen" panose="010A0502050306030303" pitchFamily="18" charset="0"/>
                <a:ea typeface="Times New Roman"/>
                <a:cs typeface="Times New Roman"/>
                <a:sym typeface="Times New Roman"/>
              </a:rPr>
              <a:t>Cortez</a:t>
            </a:r>
            <a:r>
              <a:rPr lang="en-US" sz="2800" dirty="0">
                <a:solidFill>
                  <a:srgbClr val="000000"/>
                </a:solidFill>
                <a:latin typeface="Sylfaen" panose="010A0502050306030303" pitchFamily="18" charset="0"/>
                <a:ea typeface="Times New Roman"/>
                <a:cs typeface="Times New Roman"/>
                <a:sym typeface="Times New Roman"/>
              </a:rPr>
              <a:t>, P., &amp; </a:t>
            </a:r>
            <a:r>
              <a:rPr lang="en-US" sz="2800" dirty="0" err="1">
                <a:solidFill>
                  <a:srgbClr val="000000"/>
                </a:solidFill>
                <a:latin typeface="Sylfaen" panose="010A0502050306030303" pitchFamily="18" charset="0"/>
                <a:ea typeface="Times New Roman"/>
                <a:cs typeface="Times New Roman"/>
                <a:sym typeface="Times New Roman"/>
              </a:rPr>
              <a:t>Morais</a:t>
            </a:r>
            <a:r>
              <a:rPr lang="en-US" sz="2800" dirty="0">
                <a:solidFill>
                  <a:srgbClr val="000000"/>
                </a:solidFill>
                <a:latin typeface="Sylfaen" panose="010A0502050306030303" pitchFamily="18" charset="0"/>
                <a:ea typeface="Times New Roman"/>
                <a:cs typeface="Times New Roman"/>
                <a:sym typeface="Times New Roman"/>
              </a:rPr>
              <a:t>, A. (2007). A Data Mining Approach to Predict Forest Fires Using Meteorological Data. University of Minho, Portugal</a:t>
            </a:r>
            <a:r>
              <a:rPr lang="en-US" sz="2800" dirty="0" smtClean="0">
                <a:solidFill>
                  <a:srgbClr val="000000"/>
                </a:solidFill>
                <a:latin typeface="Sylfaen" panose="010A0502050306030303" pitchFamily="18" charset="0"/>
                <a:ea typeface="Times New Roman"/>
                <a:cs typeface="Times New Roman"/>
                <a:sym typeface="Times New Roman"/>
              </a:rPr>
              <a:t>.</a:t>
            </a:r>
          </a:p>
          <a:p>
            <a:pPr marL="571500" indent="-571500" algn="just">
              <a:lnSpc>
                <a:spcPts val="4891"/>
              </a:lnSpc>
              <a:spcBef>
                <a:spcPct val="0"/>
              </a:spcBef>
              <a:buFont typeface="+mj-lt"/>
              <a:buAutoNum type="romanUcPeriod"/>
            </a:pPr>
            <a:r>
              <a:rPr lang="en-US" sz="2800" dirty="0" smtClean="0">
                <a:solidFill>
                  <a:srgbClr val="000000"/>
                </a:solidFill>
                <a:latin typeface="Sylfaen" panose="010A0502050306030303" pitchFamily="18" charset="0"/>
                <a:ea typeface="Times New Roman"/>
                <a:cs typeface="Times New Roman"/>
                <a:sym typeface="Times New Roman"/>
              </a:rPr>
              <a:t>Jain</a:t>
            </a:r>
            <a:r>
              <a:rPr lang="en-US" sz="2800" dirty="0">
                <a:solidFill>
                  <a:srgbClr val="000000"/>
                </a:solidFill>
                <a:latin typeface="Sylfaen" panose="010A0502050306030303" pitchFamily="18" charset="0"/>
                <a:ea typeface="Times New Roman"/>
                <a:cs typeface="Times New Roman"/>
                <a:sym typeface="Times New Roman"/>
              </a:rPr>
              <a:t>, P., Wang, X., Flannigan, M. D., &amp; Gillett, N. P. (2020). Global increase in forest fires due to climate change. Nature Climate Change, 10(10), 906–910</a:t>
            </a:r>
            <a:r>
              <a:rPr lang="en-US" sz="2800" dirty="0" smtClean="0">
                <a:solidFill>
                  <a:srgbClr val="000000"/>
                </a:solidFill>
                <a:latin typeface="Sylfaen" panose="010A0502050306030303" pitchFamily="18" charset="0"/>
                <a:ea typeface="Times New Roman"/>
                <a:cs typeface="Times New Roman"/>
                <a:sym typeface="Times New Roman"/>
              </a:rPr>
              <a:t>.</a:t>
            </a:r>
          </a:p>
          <a:p>
            <a:pPr marL="571500" indent="-571500" algn="just">
              <a:lnSpc>
                <a:spcPts val="4891"/>
              </a:lnSpc>
              <a:spcBef>
                <a:spcPct val="0"/>
              </a:spcBef>
              <a:buFont typeface="+mj-lt"/>
              <a:buAutoNum type="romanUcPeriod"/>
            </a:pPr>
            <a:r>
              <a:rPr lang="en-US" sz="2800" dirty="0" smtClean="0">
                <a:solidFill>
                  <a:srgbClr val="000000"/>
                </a:solidFill>
                <a:latin typeface="Sylfaen" panose="010A0502050306030303" pitchFamily="18" charset="0"/>
                <a:ea typeface="Times New Roman"/>
                <a:cs typeface="Times New Roman"/>
                <a:sym typeface="Times New Roman"/>
              </a:rPr>
              <a:t>Brown</a:t>
            </a:r>
            <a:r>
              <a:rPr lang="en-US" sz="2800" dirty="0">
                <a:solidFill>
                  <a:srgbClr val="000000"/>
                </a:solidFill>
                <a:latin typeface="Sylfaen" panose="010A0502050306030303" pitchFamily="18" charset="0"/>
                <a:ea typeface="Times New Roman"/>
                <a:cs typeface="Times New Roman"/>
                <a:sym typeface="Times New Roman"/>
              </a:rPr>
              <a:t>, T., &amp; Johnson, L. (2021). Machine Learning Techniques for Wildfire Prediction and Risk Assessment. IEEE Transactions on Environmental Systems, 45(3), 120–128</a:t>
            </a:r>
            <a:r>
              <a:rPr lang="en-US" sz="2800" dirty="0" smtClean="0">
                <a:solidFill>
                  <a:srgbClr val="000000"/>
                </a:solidFill>
                <a:latin typeface="Sylfaen" panose="010A0502050306030303" pitchFamily="18" charset="0"/>
                <a:ea typeface="Times New Roman"/>
                <a:cs typeface="Times New Roman"/>
                <a:sym typeface="Times New Roman"/>
              </a:rPr>
              <a:t>.</a:t>
            </a:r>
          </a:p>
          <a:p>
            <a:pPr marL="571500" indent="-571500" algn="just">
              <a:lnSpc>
                <a:spcPts val="4891"/>
              </a:lnSpc>
              <a:spcBef>
                <a:spcPct val="0"/>
              </a:spcBef>
              <a:buFont typeface="+mj-lt"/>
              <a:buAutoNum type="romanUcPeriod"/>
            </a:pPr>
            <a:r>
              <a:rPr lang="en-US" sz="2800" dirty="0" err="1" smtClean="0">
                <a:solidFill>
                  <a:srgbClr val="000000"/>
                </a:solidFill>
                <a:latin typeface="Sylfaen" panose="010A0502050306030303" pitchFamily="18" charset="0"/>
                <a:ea typeface="Times New Roman"/>
                <a:cs typeface="Times New Roman"/>
                <a:sym typeface="Times New Roman"/>
              </a:rPr>
              <a:t>Kaggle</a:t>
            </a:r>
            <a:r>
              <a:rPr lang="en-US" sz="2800" dirty="0" smtClean="0">
                <a:solidFill>
                  <a:srgbClr val="000000"/>
                </a:solidFill>
                <a:latin typeface="Sylfaen" panose="010A0502050306030303" pitchFamily="18" charset="0"/>
                <a:ea typeface="Times New Roman"/>
                <a:cs typeface="Times New Roman"/>
                <a:sym typeface="Times New Roman"/>
              </a:rPr>
              <a:t> </a:t>
            </a:r>
            <a:r>
              <a:rPr lang="en-US" sz="2800" dirty="0">
                <a:solidFill>
                  <a:srgbClr val="000000"/>
                </a:solidFill>
                <a:latin typeface="Sylfaen" panose="010A0502050306030303" pitchFamily="18" charset="0"/>
                <a:ea typeface="Times New Roman"/>
                <a:cs typeface="Times New Roman"/>
                <a:sym typeface="Times New Roman"/>
              </a:rPr>
              <a:t>(2022). Forest Fires Dataset. Retrieved from [https://www.kaggle.com/datasets](</a:t>
            </a:r>
            <a:r>
              <a:rPr lang="en-US" sz="2800" dirty="0">
                <a:latin typeface="Sylfaen" panose="010A0502050306030303" pitchFamily="18" charset="0"/>
                <a:ea typeface="Times New Roman"/>
                <a:cs typeface="Times New Roman"/>
                <a:sym typeface="Times New Roman"/>
                <a:hlinkClick r:id="rId6"/>
              </a:rPr>
              <a:t>https://www.kaggle.com/datasets</a:t>
            </a:r>
            <a:r>
              <a:rPr lang="en-US" sz="2800" dirty="0" smtClean="0">
                <a:solidFill>
                  <a:srgbClr val="000000"/>
                </a:solidFill>
                <a:latin typeface="Sylfaen" panose="010A0502050306030303" pitchFamily="18" charset="0"/>
                <a:ea typeface="Times New Roman"/>
                <a:cs typeface="Times New Roman"/>
                <a:sym typeface="Times New Roman"/>
              </a:rPr>
              <a:t>).</a:t>
            </a:r>
          </a:p>
          <a:p>
            <a:pPr marL="571500" indent="-571500" algn="just">
              <a:lnSpc>
                <a:spcPts val="4891"/>
              </a:lnSpc>
              <a:spcBef>
                <a:spcPct val="0"/>
              </a:spcBef>
              <a:buFont typeface="+mj-lt"/>
              <a:buAutoNum type="romanUcPeriod"/>
            </a:pPr>
            <a:r>
              <a:rPr lang="en-US" sz="2800" dirty="0" smtClean="0">
                <a:solidFill>
                  <a:srgbClr val="000000"/>
                </a:solidFill>
                <a:latin typeface="Sylfaen" panose="010A0502050306030303" pitchFamily="18" charset="0"/>
                <a:ea typeface="Times New Roman"/>
                <a:cs typeface="Times New Roman"/>
                <a:sym typeface="Times New Roman"/>
              </a:rPr>
              <a:t>Zhang</a:t>
            </a:r>
            <a:r>
              <a:rPr lang="en-US" sz="2800" dirty="0">
                <a:solidFill>
                  <a:srgbClr val="000000"/>
                </a:solidFill>
                <a:latin typeface="Sylfaen" panose="010A0502050306030303" pitchFamily="18" charset="0"/>
                <a:ea typeface="Times New Roman"/>
                <a:cs typeface="Times New Roman"/>
                <a:sym typeface="Times New Roman"/>
              </a:rPr>
              <a:t>, Y., &amp; Li, H. (2023). A Predictive Model for Forest Fire Occurrence Based on Meteorological Factors. International Journal of Computer Applications, 182(25), 15–20</a:t>
            </a:r>
            <a:r>
              <a:rPr lang="en-US" sz="2800" dirty="0" smtClean="0">
                <a:solidFill>
                  <a:srgbClr val="000000"/>
                </a:solidFill>
                <a:latin typeface="Sylfaen" panose="010A0502050306030303" pitchFamily="18" charset="0"/>
                <a:ea typeface="Times New Roman"/>
                <a:cs typeface="Times New Roman"/>
                <a:sym typeface="Times New Roman"/>
              </a:rPr>
              <a:t>.</a:t>
            </a:r>
            <a:endParaRPr lang="en-US" sz="2800" dirty="0">
              <a:solidFill>
                <a:srgbClr val="000000"/>
              </a:solidFill>
              <a:latin typeface="Sylfaen" panose="010A0502050306030303" pitchFamily="18" charset="0"/>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2EE"/>
        </a:solidFill>
        <a:effectLst/>
      </p:bgPr>
    </p:bg>
    <p:spTree>
      <p:nvGrpSpPr>
        <p:cNvPr id="1" name=""/>
        <p:cNvGrpSpPr/>
        <p:nvPr/>
      </p:nvGrpSpPr>
      <p:grpSpPr>
        <a:xfrm>
          <a:off x="0" y="0"/>
          <a:ext cx="0" cy="0"/>
          <a:chOff x="0" y="0"/>
          <a:chExt cx="0" cy="0"/>
        </a:xfrm>
      </p:grpSpPr>
      <p:sp>
        <p:nvSpPr>
          <p:cNvPr id="2" name="Freeform 2"/>
          <p:cNvSpPr/>
          <p:nvPr/>
        </p:nvSpPr>
        <p:spPr>
          <a:xfrm>
            <a:off x="-897205" y="-375178"/>
            <a:ext cx="20082410" cy="11282663"/>
          </a:xfrm>
          <a:custGeom>
            <a:avLst/>
            <a:gdLst/>
            <a:ahLst/>
            <a:cxnLst/>
            <a:rect l="l" t="t" r="r" b="b"/>
            <a:pathLst>
              <a:path w="20082410" h="11282663">
                <a:moveTo>
                  <a:pt x="0" y="0"/>
                </a:moveTo>
                <a:lnTo>
                  <a:pt x="20082410" y="0"/>
                </a:lnTo>
                <a:lnTo>
                  <a:pt x="20082410" y="11282662"/>
                </a:lnTo>
                <a:lnTo>
                  <a:pt x="0" y="1128266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rot="5400000">
            <a:off x="6251456" y="-495902"/>
            <a:ext cx="19689430" cy="11278804"/>
            <a:chOff x="0" y="0"/>
            <a:chExt cx="9012949" cy="5162937"/>
          </a:xfrm>
        </p:grpSpPr>
        <p:sp>
          <p:nvSpPr>
            <p:cNvPr id="4" name="Freeform 4"/>
            <p:cNvSpPr/>
            <p:nvPr/>
          </p:nvSpPr>
          <p:spPr>
            <a:xfrm>
              <a:off x="0" y="0"/>
              <a:ext cx="9012950" cy="5162937"/>
            </a:xfrm>
            <a:custGeom>
              <a:avLst/>
              <a:gdLst/>
              <a:ahLst/>
              <a:cxnLst/>
              <a:rect l="l" t="t" r="r" b="b"/>
              <a:pathLst>
                <a:path w="9012950" h="5162937">
                  <a:moveTo>
                    <a:pt x="4506475" y="0"/>
                  </a:moveTo>
                  <a:cubicBezTo>
                    <a:pt x="2017618" y="0"/>
                    <a:pt x="0" y="1155763"/>
                    <a:pt x="0" y="2581469"/>
                  </a:cubicBezTo>
                  <a:cubicBezTo>
                    <a:pt x="0" y="4007174"/>
                    <a:pt x="2017618" y="5162937"/>
                    <a:pt x="4506475" y="5162937"/>
                  </a:cubicBezTo>
                  <a:cubicBezTo>
                    <a:pt x="6995332" y="5162937"/>
                    <a:pt x="9012950" y="4007174"/>
                    <a:pt x="9012950" y="2581469"/>
                  </a:cubicBezTo>
                  <a:cubicBezTo>
                    <a:pt x="9012950" y="1155763"/>
                    <a:pt x="6995332" y="0"/>
                    <a:pt x="4506475" y="0"/>
                  </a:cubicBezTo>
                  <a:close/>
                </a:path>
              </a:pathLst>
            </a:custGeom>
            <a:solidFill>
              <a:srgbClr val="FBAC9F"/>
            </a:solidFill>
          </p:spPr>
        </p:sp>
        <p:sp>
          <p:nvSpPr>
            <p:cNvPr id="5" name="TextBox 5"/>
            <p:cNvSpPr txBox="1"/>
            <p:nvPr/>
          </p:nvSpPr>
          <p:spPr>
            <a:xfrm>
              <a:off x="844964" y="426875"/>
              <a:ext cx="7323021" cy="425203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022840" y="4631334"/>
            <a:ext cx="10378959" cy="1393463"/>
          </a:xfrm>
          <a:prstGeom prst="rect">
            <a:avLst/>
          </a:prstGeom>
        </p:spPr>
        <p:txBody>
          <a:bodyPr wrap="square" lIns="0" tIns="0" rIns="0" bIns="0" rtlCol="0" anchor="t">
            <a:spAutoFit/>
          </a:bodyPr>
          <a:lstStyle/>
          <a:p>
            <a:pPr marL="0" lvl="0" indent="0" algn="l">
              <a:lnSpc>
                <a:spcPts val="10676"/>
              </a:lnSpc>
              <a:spcBef>
                <a:spcPct val="0"/>
              </a:spcBef>
            </a:pPr>
            <a:r>
              <a:rPr lang="en-US" sz="9978" b="1" u="none" strike="noStrike" dirty="0">
                <a:solidFill>
                  <a:srgbClr val="861E1E"/>
                </a:solidFill>
                <a:latin typeface="League Spartan"/>
                <a:ea typeface="League Spartan"/>
                <a:cs typeface="League Spartan"/>
                <a:sym typeface="League Spartan"/>
              </a:rPr>
              <a:t>THANK YOU....!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966</Words>
  <Application>Microsoft Office PowerPoint</Application>
  <PresentationFormat>Custom</PresentationFormat>
  <Paragraphs>62</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Times New Roman</vt:lpstr>
      <vt:lpstr>Wingdings</vt:lpstr>
      <vt:lpstr>League Spartan</vt:lpstr>
      <vt:lpstr>Arial</vt:lpstr>
      <vt:lpstr>Agbalumo</vt:lpstr>
      <vt:lpstr>Sylfaen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Illustrated Firefighters Presentation</dc:title>
  <cp:lastModifiedBy>Microsoft account</cp:lastModifiedBy>
  <cp:revision>6</cp:revision>
  <dcterms:created xsi:type="dcterms:W3CDTF">2006-08-16T00:00:00Z</dcterms:created>
  <dcterms:modified xsi:type="dcterms:W3CDTF">2025-11-12T19:21:31Z</dcterms:modified>
  <dc:identifier>DAG1DSZTbaY</dc:identifier>
</cp:coreProperties>
</file>